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comments/modernComment_100_0.xml" ContentType="application/vnd.ms-powerpoint.comment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43891200" cy="32918400"/>
  <p:notesSz cx="32918400" cy="4389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446EB23-4242-59C6-683C-775A4A085FA3}" name="Maximilian Wakefield" initials="MW" userId="S::maximilian.wakefield@pinecrest.edu::73b9ad77-7330-4ea7-896e-cbea68016f5d" providerId="AD"/>
  <p188:author id="{7FE11772-EC72-974E-B20F-C996E75D8587}" name="Wakefield, Mark" initials="MW" userId="S::MWakefield@alixpartners.com::9acbe306-33f4-4136-b7a9-baf1e970db40" providerId="AD"/>
  <p188:author id="{938CB8EA-3DF8-4357-FAD3-C329753AA9C4}" name="William Wakefield" initials="WW" userId="eb56c652b2ac1817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CEC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5574"/>
    <p:restoredTop sz="94610"/>
  </p:normalViewPr>
  <p:slideViewPr>
    <p:cSldViewPr snapToGrid="0" snapToObjects="1">
      <p:cViewPr>
        <p:scale>
          <a:sx n="33" d="100"/>
          <a:sy n="33" d="100"/>
        </p:scale>
        <p:origin x="12" y="-13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8/10/relationships/authors" Target="authors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Coherence</c:v>
                </c:pt>
              </c:strCache>
            </c:strRef>
          </c:tx>
          <c:spPr>
            <a:solidFill>
              <a:srgbClr val="4F6CF6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k=4</c:v>
                </c:pt>
                <c:pt idx="1">
                  <c:v>k=5</c:v>
                </c:pt>
                <c:pt idx="2">
                  <c:v>k=6 (selected)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0.376</c:v>
                </c:pt>
                <c:pt idx="1">
                  <c:v>0.35699999999999998</c:v>
                </c:pt>
                <c:pt idx="2">
                  <c:v>0.375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99-C94D-AF1A-6A54FA0CCAB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42"/>
          <c:min val="0.3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5B7FC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thoughts</c:v>
                </c:pt>
                <c:pt idx="1">
                  <c:v>feeling</c:v>
                </c:pt>
                <c:pt idx="2">
                  <c:v>reports</c:v>
                </c:pt>
                <c:pt idx="3">
                  <c:v>states</c:v>
                </c:pt>
                <c:pt idx="4">
                  <c:v>patient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1.7999999999999999E-2</c:v>
                </c:pt>
                <c:pt idx="1">
                  <c:v>1.9E-2</c:v>
                </c:pt>
                <c:pt idx="2">
                  <c:v>0.03</c:v>
                </c:pt>
                <c:pt idx="3">
                  <c:v>3.5000000000000003E-2</c:v>
                </c:pt>
                <c:pt idx="4">
                  <c:v>3.7999999999999999E-2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6D-9749-AB77-05A8BB12DDD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C0392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suicide</c:v>
                </c:pt>
                <c:pt idx="1">
                  <c:v>cancer</c:v>
                </c:pt>
                <c:pt idx="2">
                  <c:v>patient</c:v>
                </c:pt>
                <c:pt idx="3">
                  <c:v>anxiety</c:v>
                </c:pt>
                <c:pt idx="4">
                  <c:v>depression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1.6E-2</c:v>
                </c:pt>
                <c:pt idx="1">
                  <c:v>1.9E-2</c:v>
                </c:pt>
                <c:pt idx="2">
                  <c:v>2.1999999999999999E-2</c:v>
                </c:pt>
                <c:pt idx="3">
                  <c:v>7.5999999999999998E-2</c:v>
                </c:pt>
                <c:pt idx="4">
                  <c:v>0.104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00-704F-93CB-66E109231A4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5B7FC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patient</c:v>
                </c:pt>
                <c:pt idx="1">
                  <c:v>reports</c:v>
                </c:pt>
                <c:pt idx="2">
                  <c:v>feels</c:v>
                </c:pt>
                <c:pt idx="3">
                  <c:v>mood</c:v>
                </c:pt>
                <c:pt idx="4">
                  <c:v>depressed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3.1E-2</c:v>
                </c:pt>
                <c:pt idx="1">
                  <c:v>3.4000000000000002E-2</c:v>
                </c:pt>
                <c:pt idx="2">
                  <c:v>4.9000000000000002E-2</c:v>
                </c:pt>
                <c:pt idx="3">
                  <c:v>0.05</c:v>
                </c:pt>
                <c:pt idx="4">
                  <c:v>5.7000000000000002E-2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68C-0545-B900-0808B95A24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5B7FC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unable</c:v>
                </c:pt>
                <c:pt idx="1">
                  <c:v>feeling</c:v>
                </c:pt>
                <c:pt idx="2">
                  <c:v>patient</c:v>
                </c:pt>
                <c:pt idx="3">
                  <c:v>reports</c:v>
                </c:pt>
                <c:pt idx="4">
                  <c:v>anxious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1.7999999999999999E-2</c:v>
                </c:pt>
                <c:pt idx="1">
                  <c:v>0.02</c:v>
                </c:pt>
                <c:pt idx="2">
                  <c:v>2.1999999999999999E-2</c:v>
                </c:pt>
                <c:pt idx="3">
                  <c:v>2.4E-2</c:v>
                </c:pt>
                <c:pt idx="4">
                  <c:v>5.2999999999999999E-2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342-D549-877C-3B2655FCD28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5B7FC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hospital</c:v>
                </c:pt>
                <c:pt idx="1">
                  <c:v>patient</c:v>
                </c:pt>
                <c:pt idx="2">
                  <c:v>anxiety</c:v>
                </c:pt>
                <c:pt idx="3">
                  <c:v>felt</c:v>
                </c:pt>
                <c:pt idx="4">
                  <c:v>past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2.5000000000000001E-2</c:v>
                </c:pt>
                <c:pt idx="1">
                  <c:v>2.7E-2</c:v>
                </c:pt>
                <c:pt idx="2">
                  <c:v>2.7E-2</c:v>
                </c:pt>
                <c:pt idx="3">
                  <c:v>3.2000000000000001E-2</c:v>
                </c:pt>
                <c:pt idx="4">
                  <c:v>3.7999999999999999E-2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D02-A248-83AD-0F7920CE7CB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5B7FC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going</c:v>
                </c:pt>
                <c:pt idx="1">
                  <c:v>said</c:v>
                </c:pt>
                <c:pt idx="2">
                  <c:v>depression</c:v>
                </c:pt>
                <c:pt idx="3">
                  <c:v>anxiety</c:v>
                </c:pt>
                <c:pt idx="4">
                  <c:v>patient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1.7000000000000001E-2</c:v>
                </c:pt>
                <c:pt idx="1">
                  <c:v>1.9E-2</c:v>
                </c:pt>
                <c:pt idx="2">
                  <c:v>2.4E-2</c:v>
                </c:pt>
                <c:pt idx="3">
                  <c:v>3.1E-2</c:v>
                </c:pt>
                <c:pt idx="4">
                  <c:v>7.1999999999999995E-2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40B-EA41-BCA6-A1902B1477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5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Cases</c:v>
                </c:pt>
              </c:strCache>
            </c:strRef>
          </c:tx>
          <c:spPr>
            <a:ln w="38100" cap="flat">
              <a:solidFill>
                <a:srgbClr val="C0392B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C0392B"/>
              </a:solidFill>
              <a:ln w="9525" cap="flat">
                <a:solidFill>
                  <a:srgbClr val="C0392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365+</c:v>
                </c:pt>
                <c:pt idx="1">
                  <c:v>181-365</c:v>
                </c:pt>
                <c:pt idx="2">
                  <c:v>91-180</c:v>
                </c:pt>
                <c:pt idx="3">
                  <c:v>31-90</c:v>
                </c:pt>
                <c:pt idx="4">
                  <c:v>0-30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13.5</c:v>
                </c:pt>
                <c:pt idx="1">
                  <c:v>20.6</c:v>
                </c:pt>
                <c:pt idx="2">
                  <c:v>22</c:v>
                </c:pt>
                <c:pt idx="3">
                  <c:v>24</c:v>
                </c:pt>
                <c:pt idx="4">
                  <c:v>27.6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542-6E48-97EB-50AE4E37A4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Controls</c:v>
                </c:pt>
              </c:strCache>
            </c:strRef>
          </c:tx>
          <c:spPr>
            <a:ln w="38100" cap="flat">
              <a:solidFill>
                <a:srgbClr val="5B7FCB"/>
              </a:solidFill>
              <a:prstDash val="solid"/>
              <a:round/>
            </a:ln>
            <a:effectLst/>
          </c:spPr>
          <c:marker>
            <c:symbol val="circle"/>
            <c:size val="8"/>
            <c:spPr>
              <a:solidFill>
                <a:srgbClr val="5B7FCB"/>
              </a:solidFill>
              <a:ln w="9525" cap="flat">
                <a:solidFill>
                  <a:srgbClr val="5B7FCB"/>
                </a:solidFill>
                <a:prstDash val="solid"/>
                <a:round/>
              </a:ln>
              <a:effectLst/>
            </c:spPr>
          </c:marker>
          <c:cat>
            <c:strRef>
              <c:f>Sheet1!$A$2:$A$6</c:f>
              <c:strCache>
                <c:ptCount val="5"/>
                <c:pt idx="0">
                  <c:v>365+</c:v>
                </c:pt>
                <c:pt idx="1">
                  <c:v>181-365</c:v>
                </c:pt>
                <c:pt idx="2">
                  <c:v>91-180</c:v>
                </c:pt>
                <c:pt idx="3">
                  <c:v>31-90</c:v>
                </c:pt>
                <c:pt idx="4">
                  <c:v>0-30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8.3000000000000007</c:v>
                </c:pt>
                <c:pt idx="1">
                  <c:v>6.3</c:v>
                </c:pt>
                <c:pt idx="2">
                  <c:v>8.1999999999999993</c:v>
                </c:pt>
                <c:pt idx="3">
                  <c:v>8.8000000000000007</c:v>
                </c:pt>
                <c:pt idx="4">
                  <c:v>8.6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542-6E48-97EB-50AE4E37A4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300" b="0" i="0" u="none" strike="noStrike">
                    <a:solidFill>
                      <a:srgbClr val="000000"/>
                    </a:solidFill>
                    <a:latin typeface="Arial"/>
                  </a:rPr>
                  <a:t>Days before index date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3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sz="1300" b="0" i="0" u="none" strike="noStrike">
                    <a:solidFill>
                      <a:srgbClr val="000000"/>
                    </a:solidFill>
                    <a:latin typeface="Arial"/>
                  </a:rPr>
                  <a:t>Evidence-positive rate (%)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9169B54-4B44-C34C-B5E6-902FD9EDECCA}" authorId="{938CB8EA-3DF8-4357-FAD3-C329753AA9C4}" created="2026-08-23T05:22:59.17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31" creationId="{00000000-0000-0000-0000-000000000000}"/>
      <ac:txMk cp="229" len="6">
        <ac:context len="509" hash="3931118185"/>
      </ac:txMk>
    </ac:txMkLst>
    <p188:pos x="6334001" y="2903223"/>
    <p188:txBody>
      <a:bodyPr/>
      <a:lstStyle/>
      <a:p>
        <a:r>
          <a:rPr lang="en-US"/>
          <a:t>specify a suicide event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8-23T13:27:02.097" authorId="{3446EB23-4242-59C6-683C-775A4A085FA3}"/>
          </p223:rxn>
        </p223:reactions>
      </p:ext>
    </p188:extLst>
  </p188:cm>
  <p188:cm id="{6057F169-DDE1-C142-BF10-718A93C6FDB6}" authorId="{938CB8EA-3DF8-4357-FAD3-C329753AA9C4}" created="2026-08-23T05:23:20.682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31" creationId="{00000000-0000-0000-0000-000000000000}"/>
      <ac:txMk cp="336">
        <ac:context len="509" hash="3931118185"/>
      </ac:txMk>
    </ac:txMkLst>
    <p188:pos x="6022273" y="4212478"/>
    <p188:txBody>
      <a:bodyPr/>
      <a:lstStyle/>
      <a:p>
        <a:r>
          <a:rPr lang="en-US"/>
          <a:t>what is the purpose of this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8-23T13:27:12.503" authorId="{3446EB23-4242-59C6-683C-775A4A085FA3}"/>
          </p223:rxn>
        </p223:reactions>
      </p:ext>
    </p188:extLst>
  </p188:cm>
  <p188:cm id="{5DDA3375-DBA3-1945-A260-CABA03C6A9D9}" authorId="{938CB8EA-3DF8-4357-FAD3-C329753AA9C4}" created="2026-08-23T05:25:29.07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56" creationId="{00000000-0000-0000-0000-000000000000}"/>
      <ac:txMk cp="7">
        <ac:context len="24" hash="2084004010"/>
      </ac:txMk>
    </ac:txMkLst>
    <p188:pos x="1300942" y="652227"/>
    <p188:txBody>
      <a:bodyPr/>
      <a:lstStyle/>
      <a:p>
        <a:r>
          <a:rPr lang="en-US"/>
          <a:t>you don't say filter 1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8-23T13:27:13.925" authorId="{3446EB23-4242-59C6-683C-775A4A085FA3}"/>
          </p223:rxn>
        </p223:reactions>
      </p:ext>
    </p188:extLst>
  </p188:cm>
  <p188:cm id="{2F71BD0B-9F55-0749-8F06-74A86CA3AFC4}" authorId="{938CB8EA-3DF8-4357-FAD3-C329753AA9C4}" created="2026-08-23T05:27:00.14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59" creationId="{00000000-0000-0000-0000-000000000000}"/>
    </ac:deMkLst>
    <p188:replyLst>
      <p188:reply id="{9FFAD63B-7056-414C-80C1-B63D965E3F1E}" authorId="{3446EB23-4242-59C6-683C-775A4A085FA3}" created="2026-08-23T13:24:23.481">
        <p188:txBody>
          <a:bodyPr/>
          <a:lstStyle/>
          <a:p>
            <a:r>
              <a:rPr lang="en-US"/>
              <a:t>I say it in the data and Cohort section. </a:t>
            </a:r>
          </a:p>
        </p188:txBody>
      </p188:reply>
      <p188:reply id="{EC6EFDFA-9993-3C41-AA97-5EB06B40DFCD}" authorId="{3446EB23-4242-59C6-683C-775A4A085FA3}" created="2026-08-23T13:25:40.683">
        <p188:txBody>
          <a:bodyPr/>
          <a:lstStyle/>
          <a:p>
            <a:r>
              <a:rPr lang="en-US"/>
              <a:t>both of these boxes are from free text notes.</a:t>
            </a:r>
          </a:p>
        </p188:txBody>
      </p188:reply>
    </p188:replyLst>
    <p188:txBody>
      <a:bodyPr/>
      <a:lstStyle/>
      <a:p>
        <a:r>
          <a:rPr lang="en-US"/>
          <a:t>notes of the free text data? what is the criteria for control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8-23T13:27:22.540" authorId="{3446EB23-4242-59C6-683C-775A4A085FA3}"/>
          </p223:rxn>
        </p223:reactions>
      </p:ext>
    </p188:extLst>
  </p188:cm>
  <p188:cm id="{FC059F7F-ECDB-5145-AD1F-0CB87943B667}" authorId="{938CB8EA-3DF8-4357-FAD3-C329753AA9C4}" created="2026-08-23T05:28:00.57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67" creationId="{00000000-0000-0000-0000-000000000000}"/>
      <ac:txMk cp="16" len="16">
        <ac:context len="33" hash="2881366165"/>
      </ac:txMk>
    </ac:txMkLst>
    <p188:pos x="7967749" y="760615"/>
    <p188:txBody>
      <a:bodyPr/>
      <a:lstStyle/>
      <a:p>
        <a:r>
          <a:rPr lang="en-US"/>
          <a:t>if lda stands for something, add it in the figure description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8-23T13:28:16.973" authorId="{3446EB23-4242-59C6-683C-775A4A085FA3}"/>
          </p223:rxn>
        </p223:reactions>
      </p:ext>
    </p188:extLst>
  </p188:cm>
  <p188:cm id="{639F062A-1982-A246-ADF7-8334D7B1D847}" authorId="{938CB8EA-3DF8-4357-FAD3-C329753AA9C4}" created="2026-08-23T05:28:30.94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graphicFrameMk id="82" creationId="{00000000-0000-0000-0000-000000000000}"/>
    </ac:deMkLst>
    <p188:txBody>
      <a:bodyPr/>
      <a:lstStyle/>
      <a:p>
        <a:r>
          <a:rPr lang="en-US"/>
          <a:t>Add the y axis label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8-23T13:32:09.162" authorId="{3446EB23-4242-59C6-683C-775A4A085FA3}"/>
          </p223:rxn>
        </p223:reactions>
      </p:ext>
    </p188:extLst>
  </p188:cm>
  <p188:cm id="{98F42964-9EB0-874E-B03B-6C1800152FE9}" authorId="{938CB8EA-3DF8-4357-FAD3-C329753AA9C4}" created="2026-08-23T05:29:32.383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92" creationId="{00000000-0000-0000-0000-000000000000}"/>
    </ac:deMkLst>
    <p188:txBody>
      <a:bodyPr/>
      <a:lstStyle/>
      <a:p>
        <a:r>
          <a:rPr lang="en-US"/>
          <a:t>what do the percentages mean? like 25 percent this topic is in the free text? you should add a figure description for this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8-23T13:46:44.330" authorId="{3446EB23-4242-59C6-683C-775A4A085FA3}"/>
          </p223:rxn>
        </p223:reactions>
      </p:ext>
    </p188:extLst>
  </p188:cm>
  <p188:cm id="{DD3F9E02-86F9-6A43-8F2C-FF268D6DE611}" authorId="{938CB8EA-3DF8-4357-FAD3-C329753AA9C4}" created="2026-08-23T05:32:21.60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picMk id="22" creationId="{9A6992BD-21B6-241E-1B35-3E7575CAF25D}"/>
    </ac:deMkLst>
    <p188:txBody>
      <a:bodyPr/>
      <a:lstStyle/>
      <a:p>
        <a:r>
          <a:rPr lang="en-US"/>
          <a:t>The accuracy of the combined might just be because of the structured data and not the note only. why are there error bars on accuracy? is the p value showing combined vs structured only?</a:t>
        </a:r>
      </a:p>
    </p188:txBody>
    <p188:extLst>
      <p:ext xmlns:p="http://schemas.openxmlformats.org/presentationml/2006/main" uri="{57CB4572-C831-44C2-8A1C-0ADB6CCDFE69}">
        <p223:reactions xmlns:p223="http://schemas.microsoft.com/office/powerpoint/2022/03/main">
          <p223:rxn type="👍">
            <p223:instance time="2026-08-23T13:46:47.417" authorId="{3446EB23-4242-59C6-683C-775A4A085FA3}"/>
          </p223:rxn>
        </p223:reactions>
      </p:ext>
    </p188:extLst>
  </p188:cm>
  <p188:cm id="{350EB0F1-9E81-1C45-BC0A-7E807E44CC45}" authorId="{938CB8EA-3DF8-4357-FAD3-C329753AA9C4}" created="2026-08-23T05:32:33.625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24" creationId="{A9EC0FCE-87AD-D410-9694-3157349AF49C}"/>
    </ac:deMkLst>
    <p188:txBody>
      <a:bodyPr/>
      <a:lstStyle/>
      <a:p>
        <a:r>
          <a:rPr lang="en-US"/>
          <a:t>add a proper figure description with figure number</a:t>
        </a:r>
      </a:p>
    </p188:txBody>
  </p188:cm>
  <p188:cm id="{CC8E97F7-0789-5646-9409-C9E3D7052B16}" authorId="{938CB8EA-3DF8-4357-FAD3-C329753AA9C4}" created="2026-08-23T05:33:14.01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187" creationId="{087F2CE3-C69D-26C3-9F63-A093DC39F394}"/>
    </ac:deMkLst>
    <p188:txBody>
      <a:bodyPr/>
      <a:lstStyle/>
      <a:p>
        <a:r>
          <a:rPr lang="en-US"/>
          <a:t>this should be part of the graph as a label</a:t>
        </a:r>
      </a:p>
    </p188:txBody>
  </p188:cm>
  <p188:cm id="{B4FC8E51-09CA-774D-80D3-8391D65FCDB5}" authorId="{938CB8EA-3DF8-4357-FAD3-C329753AA9C4}" created="2026-08-23T05:33:49.558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picMk id="191" creationId="{8E9291FA-21F2-622C-044B-A35AFC8732A9}"/>
    </ac:deMkLst>
    <p188:txBody>
      <a:bodyPr/>
      <a:lstStyle/>
      <a:p>
        <a:r>
          <a:rPr lang="en-US"/>
          <a:t>in your code add a mapping from the variables to actual names without abbreviations and show that here</a:t>
        </a:r>
      </a:p>
    </p188:txBody>
  </p188:cm>
  <p188:cm id="{BF4AD5AF-8276-584B-975D-1D86CE831ECE}" authorId="{938CB8EA-3DF8-4357-FAD3-C329753AA9C4}" created="2026-08-23T05:34:09.067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picMk id="192" creationId="{8BB7684C-F3B4-CF38-7678-57DF8360B84B}"/>
    </ac:deMkLst>
    <p188:txBody>
      <a:bodyPr/>
      <a:lstStyle/>
      <a:p>
        <a:r>
          <a:rPr lang="en-US"/>
          <a:t>also add a figure description for all of this. do sub figures a-d</a:t>
        </a:r>
      </a:p>
    </p188:txBody>
  </p188:cm>
  <p188:cm id="{DE6969F3-DE8B-1249-BE64-4828E862000C}" authorId="{938CB8EA-3DF8-4357-FAD3-C329753AA9C4}" created="2026-08-23T05:34:51.267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144" creationId="{00000000-0000-0000-0000-000000000000}"/>
      <ac:txMk cp="138" len="20">
        <ac:context len="170" hash="1542639390"/>
      </ac:txMk>
    </ac:txMkLst>
    <p188:pos x="5818909" y="1294191"/>
    <p188:txBody>
      <a:bodyPr/>
      <a:lstStyle/>
      <a:p>
        <a:r>
          <a:rPr lang="en-US"/>
          <a:t>what is this p value of</a:t>
        </a:r>
      </a:p>
    </p188:txBody>
  </p188:cm>
  <p188:cm id="{BEAE2E4D-CCD2-6046-A014-A7673F63BD93}" authorId="{938CB8EA-3DF8-4357-FAD3-C329753AA9C4}" created="2026-08-23T05:35:20.264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198" creationId="{1641E8D5-9435-2E2A-8CBF-AC4145CB7A5A}"/>
      <ac:txMk cp="0" len="25">
        <ac:context len="79" hash="1864643289"/>
      </ac:txMk>
    </ac:txMkLst>
    <p188:txBody>
      <a:bodyPr/>
      <a:lstStyle/>
      <a:p>
        <a:r>
          <a:rPr lang="en-US"/>
          <a:t>aren't you focused on the free-text, why show this as number 1</a:t>
        </a:r>
      </a:p>
    </p188:txBody>
  </p188:cm>
  <p188:cm id="{B18BEADD-1851-1E42-99EB-7339665A1D13}" authorId="{938CB8EA-3DF8-4357-FAD3-C329753AA9C4}" created="2026-08-23T05:35:48.94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166" creationId="{00000000-0000-0000-0000-000000000000}"/>
    </ac:deMkLst>
    <p188:txBody>
      <a:bodyPr/>
      <a:lstStyle/>
      <a:p>
        <a:r>
          <a:rPr lang="en-US"/>
          <a:t>minimum size of body text is 20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5297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ags" Target="../tags/tag1.xml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792D5075-E6A9-13D2-4F52-5B4AF8600A56}"/>
              </a:ext>
            </a:extLst>
          </p:cNvPr>
          <p:cNvGraphicFramePr>
            <a:graphicFrameLocks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9171336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219" imgH="206" progId="TCLayout.ActiveDocument.1">
                  <p:embed/>
                </p:oleObj>
              </mc:Choice>
              <mc:Fallback>
                <p:oleObj name="think-cell Slide" r:id="rId4" imgW="219" imgH="2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hart" Target="../charts/chart2.xml"/><Relationship Id="rId13" Type="http://schemas.openxmlformats.org/officeDocument/2006/relationships/chart" Target="../charts/chart7.xml"/><Relationship Id="rId18" Type="http://schemas.openxmlformats.org/officeDocument/2006/relationships/image" Target="../media/image5.png"/><Relationship Id="rId3" Type="http://schemas.openxmlformats.org/officeDocument/2006/relationships/notesSlide" Target="../notesSlides/notesSlide1.xml"/><Relationship Id="rId21" Type="http://schemas.openxmlformats.org/officeDocument/2006/relationships/image" Target="../media/image8.png"/><Relationship Id="rId7" Type="http://schemas.openxmlformats.org/officeDocument/2006/relationships/chart" Target="../charts/chart1.xml"/><Relationship Id="rId12" Type="http://schemas.openxmlformats.org/officeDocument/2006/relationships/chart" Target="../charts/chart6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6" Type="http://schemas.openxmlformats.org/officeDocument/2006/relationships/image" Target="../media/image3.png"/><Relationship Id="rId20" Type="http://schemas.openxmlformats.org/officeDocument/2006/relationships/image" Target="../media/image7.png"/><Relationship Id="rId1" Type="http://schemas.openxmlformats.org/officeDocument/2006/relationships/tags" Target="../tags/tag2.xml"/><Relationship Id="rId6" Type="http://schemas.openxmlformats.org/officeDocument/2006/relationships/image" Target="../media/image1.emf"/><Relationship Id="rId11" Type="http://schemas.openxmlformats.org/officeDocument/2006/relationships/chart" Target="../charts/chart5.xml"/><Relationship Id="rId5" Type="http://schemas.openxmlformats.org/officeDocument/2006/relationships/oleObject" Target="../embeddings/oleObject2.bin"/><Relationship Id="rId15" Type="http://schemas.openxmlformats.org/officeDocument/2006/relationships/image" Target="../media/image2.png"/><Relationship Id="rId10" Type="http://schemas.openxmlformats.org/officeDocument/2006/relationships/chart" Target="../charts/chart4.xml"/><Relationship Id="rId19" Type="http://schemas.openxmlformats.org/officeDocument/2006/relationships/image" Target="../media/image6.png"/><Relationship Id="rId4" Type="http://schemas.microsoft.com/office/2018/10/relationships/comments" Target="../comments/modernComment_100_0.xml"/><Relationship Id="rId9" Type="http://schemas.openxmlformats.org/officeDocument/2006/relationships/chart" Target="../charts/chart3.xml"/><Relationship Id="rId14" Type="http://schemas.openxmlformats.org/officeDocument/2006/relationships/chart" Target="../charts/char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9" name="think-cell data - do not delete" hidden="1">
            <a:extLst>
              <a:ext uri="{FF2B5EF4-FFF2-40B4-BE49-F238E27FC236}">
                <a16:creationId xmlns:a16="http://schemas.microsoft.com/office/drawing/2014/main" id="{3122EED5-EAF4-FD57-3673-18B5D8548568}"/>
              </a:ext>
            </a:extLst>
          </p:cNvPr>
          <p:cNvGraphicFramePr>
            <a:graphicFrameLocks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8598598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19" imgH="206" progId="TCLayout.ActiveDocument.1">
                  <p:embed/>
                </p:oleObj>
              </mc:Choice>
              <mc:Fallback>
                <p:oleObj name="think-cell Slide" r:id="rId5" imgW="219" imgH="2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0" name="Rectangle 39">
            <a:extLst>
              <a:ext uri="{FF2B5EF4-FFF2-40B4-BE49-F238E27FC236}">
                <a16:creationId xmlns:a16="http://schemas.microsoft.com/office/drawing/2014/main" id="{890197DA-A4E3-07FC-DFC5-CD89071BDE51}"/>
              </a:ext>
            </a:extLst>
          </p:cNvPr>
          <p:cNvSpPr/>
          <p:nvPr/>
        </p:nvSpPr>
        <p:spPr>
          <a:xfrm>
            <a:off x="178594" y="200025"/>
            <a:ext cx="4100512" cy="234553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Shape 0"/>
          <p:cNvSpPr/>
          <p:nvPr/>
        </p:nvSpPr>
        <p:spPr>
          <a:xfrm>
            <a:off x="365760" y="274320"/>
            <a:ext cx="43159680" cy="2103120"/>
          </a:xfrm>
          <a:prstGeom prst="rect">
            <a:avLst/>
          </a:prstGeom>
          <a:solidFill>
            <a:srgbClr val="00693E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65760" y="320040"/>
            <a:ext cx="431596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LLM-Based Extraction of Psychosocial Risk Factors in Clinical Notes</a:t>
            </a:r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4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for Suicide-Related Risk Prediction in Cancer Patients</a:t>
            </a:r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365760" y="1451664"/>
            <a:ext cx="43159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Maximilian Wakefield</a:t>
            </a:r>
            <a:endParaRPr lang="en-US" sz="3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2743200"/>
            <a:ext cx="10424160" cy="640080"/>
          </a:xfrm>
          <a:prstGeom prst="rect">
            <a:avLst/>
          </a:prstGeom>
          <a:solidFill>
            <a:srgbClr val="00693E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2743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Introduction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65760" y="3383280"/>
            <a:ext cx="10424160" cy="443484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40080" y="3657600"/>
            <a:ext cx="9875520" cy="1371600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365760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Cancer patients face elevated risk of suicidal ideation and self-harm, which are often documented only in free-text notes, not diagnosis codes.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365760" y="13958423"/>
            <a:ext cx="10424160" cy="1875995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606040" y="16817818"/>
            <a:ext cx="5943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MIMIC-IV Database  (PhysioNet, restricted access)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11109960" y="2743200"/>
            <a:ext cx="21168360" cy="640080"/>
          </a:xfrm>
          <a:prstGeom prst="rect">
            <a:avLst/>
          </a:prstGeom>
          <a:solidFill>
            <a:srgbClr val="00693E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11109960" y="2743200"/>
            <a:ext cx="21168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Methods: LLM Filtering and Topic Modeling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11109960" y="3386245"/>
            <a:ext cx="10424160" cy="7871543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11109960" y="35204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LLM Filtering Pipeline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11109960" y="3925938"/>
            <a:ext cx="10424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Qwen2.5-32B-Instruct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11384280" y="4361316"/>
            <a:ext cx="3108960" cy="241040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11475720" y="4296435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Stage 1: Extract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1521440" y="4758455"/>
            <a:ext cx="2834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List every sentence describing the patient's own </a:t>
            </a:r>
            <a:r>
              <a:rPr lang="en-US" sz="20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negative</a:t>
            </a: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mood, feelings, or coping difficulty. 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(In list format)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14493240" y="5504316"/>
            <a:ext cx="274320" cy="0"/>
          </a:xfrm>
          <a:prstGeom prst="line">
            <a:avLst/>
          </a:prstGeom>
          <a:noFill/>
          <a:ln w="50800">
            <a:solidFill>
              <a:srgbClr val="1A1A2E"/>
            </a:solidFill>
            <a:prstDash val="solid"/>
            <a:tailEnd type="triangle" w="lg" len="sm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14767560" y="4361316"/>
            <a:ext cx="3108960" cy="241040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14859000" y="4278646"/>
            <a:ext cx="2926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Stage 2: Classify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14904720" y="4879187"/>
            <a:ext cx="2834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Is this the patient’s</a:t>
            </a:r>
            <a:r>
              <a:rPr lang="en-US" sz="20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own </a:t>
            </a: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reported negative feeling?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(In Yes or No format)</a:t>
            </a:r>
          </a:p>
        </p:txBody>
      </p:sp>
      <p:sp>
        <p:nvSpPr>
          <p:cNvPr id="54" name="Shape 52"/>
          <p:cNvSpPr/>
          <p:nvPr/>
        </p:nvSpPr>
        <p:spPr>
          <a:xfrm>
            <a:off x="17876520" y="5504316"/>
            <a:ext cx="274320" cy="0"/>
          </a:xfrm>
          <a:prstGeom prst="line">
            <a:avLst/>
          </a:prstGeom>
          <a:noFill/>
          <a:ln w="50800">
            <a:solidFill>
              <a:srgbClr val="1A1A2E"/>
            </a:solidFill>
            <a:prstDash val="solid"/>
            <a:tailEnd type="triangle" w="lg" len="sm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18150840" y="4361316"/>
            <a:ext cx="3108960" cy="241040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17966166" y="4467586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Stage 3: Diagnosis-Link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8288000" y="5041193"/>
            <a:ext cx="2834640" cy="1600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Is this connected to the </a:t>
            </a:r>
            <a:r>
              <a:rPr lang="en-US" sz="20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cancer diagnosis </a:t>
            </a: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or treatment? </a:t>
            </a:r>
          </a:p>
          <a:p>
            <a:pPr marL="0" indent="0">
              <a:buNone/>
            </a:pPr>
            <a:r>
              <a:rPr lang="en-US" sz="2000" i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(In Yes, No, or Unclear format)</a:t>
            </a:r>
            <a:endParaRPr lang="en-US" sz="20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11421484" y="9689144"/>
            <a:ext cx="9784080" cy="11697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2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Index date &amp; leakage</a:t>
            </a:r>
            <a:r>
              <a:rPr lang="en-US" sz="2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: </a:t>
            </a:r>
            <a:r>
              <a:rPr lang="en-US" sz="24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Index date = first qualifying event (cases) or a comparable reference admission (controls). Only notes charted before the index date are used as predictors.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11430000" y="8205695"/>
            <a:ext cx="4800600" cy="1306081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11430000" y="8327616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200 / 1,177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11430000" y="8840696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case notes kept (17.0%)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16413480" y="8205696"/>
            <a:ext cx="4800600" cy="1306080"/>
          </a:xfrm>
          <a:prstGeom prst="rect">
            <a:avLst/>
          </a:prstGeom>
          <a:solidFill>
            <a:srgbClr val="ECECEC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16413480" y="8327616"/>
            <a:ext cx="4800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877 / 10,627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16413480" y="8840696"/>
            <a:ext cx="4800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control notes kept (8.3%)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6" name="Shape 64"/>
          <p:cNvSpPr/>
          <p:nvPr/>
        </p:nvSpPr>
        <p:spPr>
          <a:xfrm>
            <a:off x="21854160" y="3383280"/>
            <a:ext cx="10424160" cy="7871543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7" name="Text 65"/>
          <p:cNvSpPr/>
          <p:nvPr/>
        </p:nvSpPr>
        <p:spPr>
          <a:xfrm>
            <a:off x="21854160" y="352044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Topic Modeling: LDA vs. BERTopic</a:t>
            </a:r>
            <a:endParaRPr lang="en-US" sz="2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9" name="Shape 67"/>
          <p:cNvSpPr/>
          <p:nvPr/>
        </p:nvSpPr>
        <p:spPr>
          <a:xfrm>
            <a:off x="22174200" y="4099560"/>
            <a:ext cx="4892040" cy="1371600"/>
          </a:xfrm>
          <a:prstGeom prst="rect">
            <a:avLst/>
          </a:prstGeom>
          <a:solidFill>
            <a:schemeClr val="bg1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Text 68"/>
          <p:cNvSpPr/>
          <p:nvPr/>
        </p:nvSpPr>
        <p:spPr>
          <a:xfrm>
            <a:off x="22311360" y="4176486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LDA - Full Note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Text 69"/>
          <p:cNvSpPr/>
          <p:nvPr/>
        </p:nvSpPr>
        <p:spPr>
          <a:xfrm>
            <a:off x="22311360" y="4474735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Topics were: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Organ-system dominated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Medication dominated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2" name="Shape 70"/>
          <p:cNvSpPr/>
          <p:nvPr/>
        </p:nvSpPr>
        <p:spPr>
          <a:xfrm>
            <a:off x="27249120" y="4099560"/>
            <a:ext cx="4892040" cy="1371600"/>
          </a:xfrm>
          <a:prstGeom prst="rect">
            <a:avLst/>
          </a:prstGeom>
          <a:solidFill>
            <a:schemeClr val="bg1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Text 71"/>
          <p:cNvSpPr/>
          <p:nvPr/>
        </p:nvSpPr>
        <p:spPr>
          <a:xfrm>
            <a:off x="27386280" y="4176486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 err="1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BERTopic</a:t>
            </a:r>
            <a:r>
              <a:rPr lang="en-US" sz="20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- Full Note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4" name="Text 72"/>
          <p:cNvSpPr/>
          <p:nvPr/>
        </p:nvSpPr>
        <p:spPr>
          <a:xfrm>
            <a:off x="27386280" y="4485381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Topics were: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Dosage and medication based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Pharmaceutical language dominated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Shape 73"/>
          <p:cNvSpPr/>
          <p:nvPr/>
        </p:nvSpPr>
        <p:spPr>
          <a:xfrm>
            <a:off x="22174200" y="5654040"/>
            <a:ext cx="4892040" cy="1371600"/>
          </a:xfrm>
          <a:prstGeom prst="rect">
            <a:avLst/>
          </a:prstGeom>
          <a:solidFill>
            <a:schemeClr val="bg1"/>
          </a:solidFill>
          <a:ln w="25400">
            <a:solidFill>
              <a:srgbClr val="00693E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22311360" y="5701938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LDA - Evidence spans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Text 75"/>
          <p:cNvSpPr/>
          <p:nvPr/>
        </p:nvSpPr>
        <p:spPr>
          <a:xfrm>
            <a:off x="22311360" y="5994478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Coherent topics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Clinically interpretable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Related to suicide risk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8" name="Shape 76"/>
          <p:cNvSpPr/>
          <p:nvPr/>
        </p:nvSpPr>
        <p:spPr>
          <a:xfrm>
            <a:off x="27249120" y="5654040"/>
            <a:ext cx="4892040" cy="1371600"/>
          </a:xfrm>
          <a:prstGeom prst="rect">
            <a:avLst/>
          </a:prstGeom>
          <a:solidFill>
            <a:schemeClr val="bg1"/>
          </a:solidFill>
          <a:ln w="12700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9" name="Text 77"/>
          <p:cNvSpPr/>
          <p:nvPr/>
        </p:nvSpPr>
        <p:spPr>
          <a:xfrm>
            <a:off x="27386280" y="5701938"/>
            <a:ext cx="4617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 err="1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BERTopic</a:t>
            </a:r>
            <a:r>
              <a:rPr lang="en-US" sz="20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- Evidence spans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Text 78"/>
          <p:cNvSpPr/>
          <p:nvPr/>
        </p:nvSpPr>
        <p:spPr>
          <a:xfrm>
            <a:off x="27386280" y="6051628"/>
            <a:ext cx="46177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Only contained 2 topics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 topic absorbed most of the notes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clinically interpretable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Text 79"/>
          <p:cNvSpPr/>
          <p:nvPr/>
        </p:nvSpPr>
        <p:spPr>
          <a:xfrm>
            <a:off x="22212300" y="7147563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Topic count (k) selection (5-seed coherence comparison):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2" name="Chart 0"/>
          <p:cNvGraphicFramePr/>
          <p:nvPr>
            <p:extLst>
              <p:ext uri="{D42A27DB-BD31-4B8C-83A1-F6EECF244321}">
                <p14:modId xmlns:p14="http://schemas.microsoft.com/office/powerpoint/2010/main" val="4267426925"/>
              </p:ext>
            </p:extLst>
          </p:nvPr>
        </p:nvGraphicFramePr>
        <p:xfrm>
          <a:off x="22402800" y="7559043"/>
          <a:ext cx="932688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83" name="Text 80"/>
          <p:cNvSpPr/>
          <p:nvPr/>
        </p:nvSpPr>
        <p:spPr>
          <a:xfrm>
            <a:off x="22053174" y="9910227"/>
            <a:ext cx="10324203" cy="12850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Figure 2: </a:t>
            </a:r>
            <a:r>
              <a:rPr lang="en-US" sz="2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Latent Dirichlet Allocation (LDA) k selection using coherence scores. LDA k=6 was chosen over the marginally more stable k=4 to isolate suicidal ideation as its own theme</a:t>
            </a:r>
            <a:r>
              <a:rPr lang="en-US" sz="2400" i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. Best coherence: 0.370; log-perplexity: -5.745 (train) / -9.380 (test).</a:t>
            </a:r>
            <a:endParaRPr lang="en-US" sz="2400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Shape 81"/>
          <p:cNvSpPr/>
          <p:nvPr/>
        </p:nvSpPr>
        <p:spPr>
          <a:xfrm>
            <a:off x="11109960" y="11468100"/>
            <a:ext cx="21168360" cy="640080"/>
          </a:xfrm>
          <a:prstGeom prst="rect">
            <a:avLst/>
          </a:prstGeom>
          <a:solidFill>
            <a:srgbClr val="00693E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Text 82"/>
          <p:cNvSpPr/>
          <p:nvPr/>
        </p:nvSpPr>
        <p:spPr>
          <a:xfrm>
            <a:off x="11109960" y="11468100"/>
            <a:ext cx="21168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Results: LDA Topic Content &amp; Case/Control Prevalence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6" name="Shape 83"/>
          <p:cNvSpPr/>
          <p:nvPr/>
        </p:nvSpPr>
        <p:spPr>
          <a:xfrm>
            <a:off x="11109960" y="12108179"/>
            <a:ext cx="21168360" cy="10260579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7" name="Text 84"/>
          <p:cNvSpPr/>
          <p:nvPr/>
        </p:nvSpPr>
        <p:spPr>
          <a:xfrm>
            <a:off x="11430000" y="12359640"/>
            <a:ext cx="659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Topic 0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8" name="Text 85"/>
          <p:cNvSpPr/>
          <p:nvPr/>
        </p:nvSpPr>
        <p:spPr>
          <a:xfrm>
            <a:off x="11430000" y="12725400"/>
            <a:ext cx="659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47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Cases: 13.5%   Controls: 24.3%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89" name="Chart 1"/>
          <p:cNvGraphicFramePr/>
          <p:nvPr>
            <p:extLst>
              <p:ext uri="{D42A27DB-BD31-4B8C-83A1-F6EECF244321}">
                <p14:modId xmlns:p14="http://schemas.microsoft.com/office/powerpoint/2010/main" val="463507226"/>
              </p:ext>
            </p:extLst>
          </p:nvPr>
        </p:nvGraphicFramePr>
        <p:xfrm>
          <a:off x="11475720" y="13091160"/>
          <a:ext cx="65074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8"/>
          </a:graphicData>
        </a:graphic>
      </p:graphicFrame>
      <p:sp>
        <p:nvSpPr>
          <p:cNvPr id="90" name="Shape 86"/>
          <p:cNvSpPr/>
          <p:nvPr/>
        </p:nvSpPr>
        <p:spPr>
          <a:xfrm>
            <a:off x="18284952" y="12295632"/>
            <a:ext cx="6818376" cy="4654296"/>
          </a:xfrm>
          <a:prstGeom prst="rect">
            <a:avLst/>
          </a:prstGeom>
          <a:solidFill>
            <a:srgbClr val="ECECEC"/>
          </a:solidFill>
          <a:ln w="31750">
            <a:solidFill>
              <a:srgbClr val="C0392B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1" name="Text 87"/>
          <p:cNvSpPr/>
          <p:nvPr/>
        </p:nvSpPr>
        <p:spPr>
          <a:xfrm>
            <a:off x="18394680" y="12359640"/>
            <a:ext cx="659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0392B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Topic 1  Suicide/Ideation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2" name="Text 88"/>
          <p:cNvSpPr/>
          <p:nvPr/>
        </p:nvSpPr>
        <p:spPr>
          <a:xfrm>
            <a:off x="18394680" y="12725400"/>
            <a:ext cx="659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47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Cases: 25.2%   Controls: 22.5%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3" name="Chart 2"/>
          <p:cNvGraphicFramePr/>
          <p:nvPr>
            <p:extLst>
              <p:ext uri="{D42A27DB-BD31-4B8C-83A1-F6EECF244321}">
                <p14:modId xmlns:p14="http://schemas.microsoft.com/office/powerpoint/2010/main" val="1339387791"/>
              </p:ext>
            </p:extLst>
          </p:nvPr>
        </p:nvGraphicFramePr>
        <p:xfrm>
          <a:off x="18440400" y="13091160"/>
          <a:ext cx="65074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9"/>
          </a:graphicData>
        </a:graphic>
      </p:graphicFrame>
      <p:sp>
        <p:nvSpPr>
          <p:cNvPr id="94" name="Text 89"/>
          <p:cNvSpPr/>
          <p:nvPr/>
        </p:nvSpPr>
        <p:spPr>
          <a:xfrm>
            <a:off x="25359360" y="12359640"/>
            <a:ext cx="659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Topic 2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" name="Text 90"/>
          <p:cNvSpPr/>
          <p:nvPr/>
        </p:nvSpPr>
        <p:spPr>
          <a:xfrm>
            <a:off x="25359360" y="12725400"/>
            <a:ext cx="659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47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Cases: 16.2%   Controls: 15.2%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6" name="Chart 3"/>
          <p:cNvGraphicFramePr/>
          <p:nvPr>
            <p:extLst>
              <p:ext uri="{D42A27DB-BD31-4B8C-83A1-F6EECF244321}">
                <p14:modId xmlns:p14="http://schemas.microsoft.com/office/powerpoint/2010/main" val="175593978"/>
              </p:ext>
            </p:extLst>
          </p:nvPr>
        </p:nvGraphicFramePr>
        <p:xfrm>
          <a:off x="25405080" y="13091160"/>
          <a:ext cx="65074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sp>
        <p:nvSpPr>
          <p:cNvPr id="97" name="Text 91"/>
          <p:cNvSpPr/>
          <p:nvPr/>
        </p:nvSpPr>
        <p:spPr>
          <a:xfrm>
            <a:off x="11430000" y="17160240"/>
            <a:ext cx="659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Topic 3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8" name="Text 92"/>
          <p:cNvSpPr/>
          <p:nvPr/>
        </p:nvSpPr>
        <p:spPr>
          <a:xfrm>
            <a:off x="11430000" y="17526000"/>
            <a:ext cx="659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47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Cases: 10.8%   Controls: 10%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9" name="Chart 4"/>
          <p:cNvGraphicFramePr/>
          <p:nvPr>
            <p:extLst>
              <p:ext uri="{D42A27DB-BD31-4B8C-83A1-F6EECF244321}">
                <p14:modId xmlns:p14="http://schemas.microsoft.com/office/powerpoint/2010/main" val="2548210039"/>
              </p:ext>
            </p:extLst>
          </p:nvPr>
        </p:nvGraphicFramePr>
        <p:xfrm>
          <a:off x="11475720" y="17891760"/>
          <a:ext cx="65074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1"/>
          </a:graphicData>
        </a:graphic>
      </p:graphicFrame>
      <p:sp>
        <p:nvSpPr>
          <p:cNvPr id="100" name="Text 93"/>
          <p:cNvSpPr/>
          <p:nvPr/>
        </p:nvSpPr>
        <p:spPr>
          <a:xfrm>
            <a:off x="18394680" y="17160240"/>
            <a:ext cx="659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Topic 4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1" name="Text 94"/>
          <p:cNvSpPr/>
          <p:nvPr/>
        </p:nvSpPr>
        <p:spPr>
          <a:xfrm>
            <a:off x="18394680" y="17526000"/>
            <a:ext cx="659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47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Cases: 21.6%   Controls: 17.2%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2" name="Chart 5"/>
          <p:cNvGraphicFramePr/>
          <p:nvPr>
            <p:extLst>
              <p:ext uri="{D42A27DB-BD31-4B8C-83A1-F6EECF244321}">
                <p14:modId xmlns:p14="http://schemas.microsoft.com/office/powerpoint/2010/main" val="212908186"/>
              </p:ext>
            </p:extLst>
          </p:nvPr>
        </p:nvGraphicFramePr>
        <p:xfrm>
          <a:off x="18440400" y="17891760"/>
          <a:ext cx="65074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  <p:sp>
        <p:nvSpPr>
          <p:cNvPr id="103" name="Text 95"/>
          <p:cNvSpPr/>
          <p:nvPr/>
        </p:nvSpPr>
        <p:spPr>
          <a:xfrm>
            <a:off x="25359360" y="17160240"/>
            <a:ext cx="6598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Topic 5</a:t>
            </a:r>
            <a:endParaRPr lang="en-US" sz="19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4" name="Text 96"/>
          <p:cNvSpPr/>
          <p:nvPr/>
        </p:nvSpPr>
        <p:spPr>
          <a:xfrm>
            <a:off x="25359360" y="17526000"/>
            <a:ext cx="659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5B6472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Cases: 12.6%   Controls: 10.7%</a:t>
            </a:r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05" name="Chart 6"/>
          <p:cNvGraphicFramePr/>
          <p:nvPr>
            <p:extLst>
              <p:ext uri="{D42A27DB-BD31-4B8C-83A1-F6EECF244321}">
                <p14:modId xmlns:p14="http://schemas.microsoft.com/office/powerpoint/2010/main" val="2823414421"/>
              </p:ext>
            </p:extLst>
          </p:nvPr>
        </p:nvGraphicFramePr>
        <p:xfrm>
          <a:off x="25405080" y="17891760"/>
          <a:ext cx="650748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3"/>
          </a:graphicData>
        </a:graphic>
      </p:graphicFrame>
      <p:sp>
        <p:nvSpPr>
          <p:cNvPr id="106" name="Shape 97"/>
          <p:cNvSpPr/>
          <p:nvPr/>
        </p:nvSpPr>
        <p:spPr>
          <a:xfrm>
            <a:off x="11109960" y="22513886"/>
            <a:ext cx="21168360" cy="640080"/>
          </a:xfrm>
          <a:prstGeom prst="rect">
            <a:avLst/>
          </a:prstGeom>
          <a:solidFill>
            <a:srgbClr val="00693E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7" name="Text 98"/>
          <p:cNvSpPr/>
          <p:nvPr/>
        </p:nvSpPr>
        <p:spPr>
          <a:xfrm>
            <a:off x="11109960" y="22513886"/>
            <a:ext cx="21168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Results: Predictive Value of Topic and Note Features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8" name="Shape 99"/>
          <p:cNvSpPr/>
          <p:nvPr/>
        </p:nvSpPr>
        <p:spPr>
          <a:xfrm>
            <a:off x="11109959" y="23150402"/>
            <a:ext cx="21168359" cy="956797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5" name="Shape 104"/>
          <p:cNvSpPr/>
          <p:nvPr/>
        </p:nvSpPr>
        <p:spPr>
          <a:xfrm>
            <a:off x="32598360" y="2743200"/>
            <a:ext cx="10424160" cy="640080"/>
          </a:xfrm>
          <a:prstGeom prst="rect">
            <a:avLst/>
          </a:prstGeom>
          <a:solidFill>
            <a:srgbClr val="00693E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6" name="Text 105"/>
          <p:cNvSpPr/>
          <p:nvPr/>
        </p:nvSpPr>
        <p:spPr>
          <a:xfrm>
            <a:off x="32598360" y="274320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Results: Model Accuracy Metrics</a:t>
            </a:r>
            <a:endParaRPr 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7" name="Shape 106"/>
          <p:cNvSpPr/>
          <p:nvPr/>
        </p:nvSpPr>
        <p:spPr>
          <a:xfrm>
            <a:off x="32598360" y="3383280"/>
            <a:ext cx="10424160" cy="10527120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0" name="Shape 126"/>
          <p:cNvSpPr/>
          <p:nvPr/>
        </p:nvSpPr>
        <p:spPr>
          <a:xfrm>
            <a:off x="32598360" y="14114813"/>
            <a:ext cx="10424160" cy="640080"/>
          </a:xfrm>
          <a:prstGeom prst="rect">
            <a:avLst/>
          </a:prstGeom>
          <a:solidFill>
            <a:srgbClr val="00693E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1" name="Text 127"/>
          <p:cNvSpPr/>
          <p:nvPr/>
        </p:nvSpPr>
        <p:spPr>
          <a:xfrm>
            <a:off x="32598360" y="14114813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Longitudinal Evidence Trend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2" name="Shape 128"/>
          <p:cNvSpPr/>
          <p:nvPr/>
        </p:nvSpPr>
        <p:spPr>
          <a:xfrm>
            <a:off x="32598360" y="14754894"/>
            <a:ext cx="10424160" cy="5048756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43" name="Chart 9"/>
          <p:cNvGraphicFramePr/>
          <p:nvPr>
            <p:extLst>
              <p:ext uri="{D42A27DB-BD31-4B8C-83A1-F6EECF244321}">
                <p14:modId xmlns:p14="http://schemas.microsoft.com/office/powerpoint/2010/main" val="999406275"/>
              </p:ext>
            </p:extLst>
          </p:nvPr>
        </p:nvGraphicFramePr>
        <p:xfrm>
          <a:off x="32726376" y="14817283"/>
          <a:ext cx="10168128" cy="4069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4"/>
          </a:graphicData>
        </a:graphic>
      </p:graphicFrame>
      <p:sp>
        <p:nvSpPr>
          <p:cNvPr id="144" name="Text 129"/>
          <p:cNvSpPr/>
          <p:nvPr/>
        </p:nvSpPr>
        <p:spPr>
          <a:xfrm>
            <a:off x="32804337" y="18705782"/>
            <a:ext cx="9883629" cy="1084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Figure 6: </a:t>
            </a:r>
            <a:r>
              <a:rPr lang="en-US" sz="2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Longitudinal graph showing increasing case prevalence over time. Cases nearly double approaching the event; controls stay flat (interaction p=0.0053,</a:t>
            </a:r>
            <a:r>
              <a:rPr lang="en-US" sz="2400" i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2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n=9,068).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5" name="Shape 130"/>
          <p:cNvSpPr/>
          <p:nvPr/>
        </p:nvSpPr>
        <p:spPr>
          <a:xfrm>
            <a:off x="32598360" y="19993968"/>
            <a:ext cx="10424160" cy="640080"/>
          </a:xfrm>
          <a:prstGeom prst="rect">
            <a:avLst/>
          </a:prstGeom>
          <a:solidFill>
            <a:srgbClr val="00693E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6" name="Text 131"/>
          <p:cNvSpPr/>
          <p:nvPr/>
        </p:nvSpPr>
        <p:spPr>
          <a:xfrm>
            <a:off x="32598360" y="19993968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Conclusions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7" name="Shape 132"/>
          <p:cNvSpPr/>
          <p:nvPr/>
        </p:nvSpPr>
        <p:spPr>
          <a:xfrm>
            <a:off x="32598360" y="20634048"/>
            <a:ext cx="10424160" cy="3791705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3" name="Shape 148"/>
          <p:cNvSpPr/>
          <p:nvPr/>
        </p:nvSpPr>
        <p:spPr>
          <a:xfrm>
            <a:off x="32598360" y="24571380"/>
            <a:ext cx="10424160" cy="640080"/>
          </a:xfrm>
          <a:prstGeom prst="rect">
            <a:avLst/>
          </a:prstGeom>
          <a:solidFill>
            <a:srgbClr val="00693E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4" name="Text 149"/>
          <p:cNvSpPr/>
          <p:nvPr/>
        </p:nvSpPr>
        <p:spPr>
          <a:xfrm>
            <a:off x="32598360" y="24571380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Limitations &amp; Future Work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5" name="Shape 150"/>
          <p:cNvSpPr/>
          <p:nvPr/>
        </p:nvSpPr>
        <p:spPr>
          <a:xfrm>
            <a:off x="32598360" y="25211460"/>
            <a:ext cx="10424160" cy="2681157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6" name="Text 151"/>
          <p:cNvSpPr/>
          <p:nvPr/>
        </p:nvSpPr>
        <p:spPr>
          <a:xfrm>
            <a:off x="32860344" y="25175976"/>
            <a:ext cx="9784080" cy="24003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5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Limitations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MIMIC-IV v3.1 is </a:t>
            </a:r>
            <a:r>
              <a:rPr lang="en-US" sz="20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ICU/ED-only</a:t>
            </a: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, and has no psychotherapy notes
Cancer-specific notes are sparse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en-US" sz="1350" b="1" dirty="0">
              <a:solidFill>
                <a:srgbClr val="1A1A2E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r>
              <a:rPr lang="en-US" sz="25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Future Work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Pull </a:t>
            </a:r>
            <a:r>
              <a:rPr lang="en-US" sz="20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broader</a:t>
            </a: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cancer reports for the same cohort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Validate trajectory-based monitoring in oncology care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8" name="Shape 19">
            <a:extLst>
              <a:ext uri="{FF2B5EF4-FFF2-40B4-BE49-F238E27FC236}">
                <a16:creationId xmlns:a16="http://schemas.microsoft.com/office/drawing/2014/main" id="{3C0BF172-867B-9A1C-2655-88494C7658A0}"/>
              </a:ext>
            </a:extLst>
          </p:cNvPr>
          <p:cNvSpPr/>
          <p:nvPr/>
        </p:nvSpPr>
        <p:spPr>
          <a:xfrm>
            <a:off x="599703" y="14733525"/>
            <a:ext cx="9979904" cy="9037797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640080" y="14894938"/>
            <a:ext cx="9875520" cy="87747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7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Structured EHR Tables from MIMIC-IV v3.1 </a:t>
            </a:r>
            <a:r>
              <a:rPr lang="en-US" sz="19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r>
              <a:rPr lang="en-US" sz="2500" i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Diagnosis codes, admissions, and demographics from the hospital record</a:t>
            </a:r>
            <a:r>
              <a:rPr lang="en-US" sz="2500" b="1" i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</a:p>
          <a:p>
            <a:r>
              <a:rPr lang="en-US" sz="23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</a:t>
            </a:r>
            <a:r>
              <a:rPr lang="en-US" sz="2300" b="1" u="sng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https://</a:t>
            </a:r>
            <a:r>
              <a:rPr lang="en-US" sz="2300" b="1" u="sng" dirty="0" err="1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physionet.org</a:t>
            </a:r>
            <a:r>
              <a:rPr lang="en-US" sz="2300" b="1" u="sng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/content/</a:t>
            </a:r>
            <a:r>
              <a:rPr lang="en-US" sz="2300" b="1" u="sng" dirty="0" err="1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mimiciv</a:t>
            </a:r>
            <a:r>
              <a:rPr lang="en-US" sz="2300" b="1" u="sng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/3.1/)</a:t>
            </a:r>
          </a:p>
          <a:p>
            <a:endParaRPr lang="en-US" sz="2500" i="1" dirty="0">
              <a:solidFill>
                <a:srgbClr val="1A1A2E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r>
              <a:rPr lang="en-US" sz="27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4,614 cancer patients:</a:t>
            </a:r>
          </a:p>
          <a:p>
            <a:endParaRPr lang="en-US" b="1" dirty="0">
              <a:solidFill>
                <a:srgbClr val="1A1A2E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5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769 </a:t>
            </a:r>
            <a:r>
              <a:rPr lang="en-US" sz="25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with</a:t>
            </a:r>
            <a:r>
              <a:rPr lang="en-US" sz="25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a documented suicide-related event 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5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3,845 </a:t>
            </a:r>
            <a:r>
              <a:rPr lang="en-US" sz="25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without </a:t>
            </a:r>
            <a:r>
              <a:rPr lang="en-US" sz="25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 documented suicide-related event (matched controls)</a:t>
            </a:r>
          </a:p>
          <a:p>
            <a:endParaRPr lang="en-US" dirty="0">
              <a:solidFill>
                <a:srgbClr val="1A1A2E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r>
              <a:rPr lang="en-US" sz="27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28 features </a:t>
            </a:r>
            <a:r>
              <a:rPr lang="en-US" sz="27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engineered from three tables:</a:t>
            </a:r>
          </a:p>
          <a:p>
            <a:endParaRPr lang="en-US" dirty="0">
              <a:solidFill>
                <a:srgbClr val="1A1A2E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5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Admissions: hospital visit history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5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Diagnosis codes: psychiatric, pain, substance-use history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5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Patients: demographics (age, sex, insurance, marital status)</a:t>
            </a:r>
            <a:endParaRPr lang="en-US" sz="2500" b="1" dirty="0">
              <a:solidFill>
                <a:srgbClr val="1A1A2E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r>
              <a:rPr lang="en-US" sz="19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r>
              <a:rPr lang="en-US" sz="2700" b="1" u="sng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Benefits:</a:t>
            </a:r>
            <a:r>
              <a:rPr lang="en-US" sz="27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27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Clean </a:t>
            </a:r>
            <a:r>
              <a:rPr lang="en-US" sz="27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clinical labels</a:t>
            </a:r>
            <a:r>
              <a:rPr lang="en-US" sz="27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; well-defined </a:t>
            </a:r>
            <a:r>
              <a:rPr lang="en-US" sz="27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structured variables</a:t>
            </a:r>
          </a:p>
          <a:p>
            <a:r>
              <a:rPr lang="en-US" sz="15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r>
              <a:rPr lang="en-US" sz="2700" b="1" u="sng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Drawbacks:</a:t>
            </a:r>
            <a:r>
              <a:rPr lang="en-US" sz="27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27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Misses </a:t>
            </a:r>
            <a:r>
              <a:rPr lang="en-US" sz="27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undocumented risk</a:t>
            </a:r>
            <a:r>
              <a:rPr lang="en-US" sz="27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, weak correlation to real-life </a:t>
            </a:r>
            <a:r>
              <a:rPr lang="en-US" sz="27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emotions</a:t>
            </a:r>
            <a:b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en-US" sz="19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0" name="Shape 19">
            <a:extLst>
              <a:ext uri="{FF2B5EF4-FFF2-40B4-BE49-F238E27FC236}">
                <a16:creationId xmlns:a16="http://schemas.microsoft.com/office/drawing/2014/main" id="{49E93EB2-CB49-E90E-6B25-9E844DE6832D}"/>
              </a:ext>
            </a:extLst>
          </p:cNvPr>
          <p:cNvSpPr/>
          <p:nvPr/>
        </p:nvSpPr>
        <p:spPr>
          <a:xfrm>
            <a:off x="576648" y="24528513"/>
            <a:ext cx="10008974" cy="7698996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65760" y="13344482"/>
            <a:ext cx="10424160" cy="640080"/>
          </a:xfrm>
          <a:prstGeom prst="rect">
            <a:avLst/>
          </a:prstGeom>
          <a:solidFill>
            <a:srgbClr val="00693E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365760" y="13344482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Data &amp; Cohorts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94359" y="14277730"/>
            <a:ext cx="9988827" cy="639778"/>
          </a:xfrm>
          <a:prstGeom prst="rect">
            <a:avLst/>
          </a:prstGeom>
          <a:solidFill>
            <a:srgbClr val="EDF5F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" name="Image 0" descr="/home/claude/poster_work/dot_whisker_full_comparison.png">
            <a:extLst>
              <a:ext uri="{FF2B5EF4-FFF2-40B4-BE49-F238E27FC236}">
                <a16:creationId xmlns:a16="http://schemas.microsoft.com/office/drawing/2014/main" id="{9A6992BD-21B6-241E-1B35-3E7575CAF25D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t="9297"/>
          <a:stretch>
            <a:fillRect/>
          </a:stretch>
        </p:blipFill>
        <p:spPr>
          <a:xfrm>
            <a:off x="12037944" y="23724434"/>
            <a:ext cx="19312387" cy="7482716"/>
          </a:xfrm>
          <a:prstGeom prst="rect">
            <a:avLst/>
          </a:prstGeom>
        </p:spPr>
      </p:pic>
      <p:sp>
        <p:nvSpPr>
          <p:cNvPr id="27" name="Text 25"/>
          <p:cNvSpPr/>
          <p:nvPr/>
        </p:nvSpPr>
        <p:spPr>
          <a:xfrm>
            <a:off x="3131820" y="14289132"/>
            <a:ext cx="4892040" cy="63977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Structured EHR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669472" y="24695031"/>
            <a:ext cx="9846127" cy="751212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7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Discharge summaries from MIMIC-IV v2.2</a:t>
            </a:r>
          </a:p>
          <a:p>
            <a:r>
              <a:rPr lang="en-US" sz="2500" i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Free-text discharge summaries from the same patients</a:t>
            </a:r>
          </a:p>
          <a:p>
            <a:r>
              <a:rPr lang="en-US" sz="23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</a:t>
            </a:r>
            <a:r>
              <a:rPr lang="en-US" sz="2300" b="1" u="sng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https://</a:t>
            </a:r>
            <a:r>
              <a:rPr lang="en-US" sz="2300" b="1" u="sng" dirty="0" err="1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physionet.org</a:t>
            </a:r>
            <a:r>
              <a:rPr lang="en-US" sz="2300" b="1" u="sng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/content/mimic-iv-note/2.2/</a:t>
            </a:r>
            <a:r>
              <a:rPr lang="en-US" sz="23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) </a:t>
            </a:r>
            <a:r>
              <a:rPr lang="en-US" sz="19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endParaRPr lang="en-US" sz="2500" dirty="0">
              <a:solidFill>
                <a:srgbClr val="1A1A2E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r>
              <a:rPr lang="en-US" sz="27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11,804 notes </a:t>
            </a:r>
            <a:r>
              <a:rPr lang="en-US" sz="27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screened:</a:t>
            </a:r>
          </a:p>
          <a:p>
            <a:endParaRPr lang="en-US" dirty="0">
              <a:solidFill>
                <a:srgbClr val="1A1A2E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5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1,177 from cancer patients</a:t>
            </a:r>
            <a:r>
              <a:rPr lang="en-US" sz="25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with</a:t>
            </a:r>
            <a:r>
              <a:rPr lang="en-US" sz="25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a documented suicide-related event (cases notes)</a:t>
            </a: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en-US" sz="25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10,627 from cancer patients </a:t>
            </a:r>
            <a:r>
              <a:rPr lang="en-US" sz="25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without</a:t>
            </a:r>
            <a:r>
              <a:rPr lang="en-US" sz="25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a documented suicide-related event (control notes)</a:t>
            </a:r>
            <a:endParaRPr lang="en-US" sz="2500" b="1" dirty="0">
              <a:solidFill>
                <a:srgbClr val="1A1A2E"/>
              </a:solidFill>
              <a:latin typeface="Arial" panose="020B0604020202020204" pitchFamily="34" charset="0"/>
              <a:ea typeface="Arial" pitchFamily="34" charset="-122"/>
              <a:cs typeface="Arial" panose="020B0604020202020204" pitchFamily="34" charset="0"/>
            </a:endParaRPr>
          </a:p>
          <a:p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r>
              <a:rPr lang="en-US" sz="2700" b="1" u="sng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Benefits:</a:t>
            </a:r>
            <a:r>
              <a:rPr lang="en-US" sz="27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27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Mimics real-life </a:t>
            </a:r>
            <a:r>
              <a:rPr lang="en-US" sz="27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emotional signals </a:t>
            </a:r>
            <a:r>
              <a:rPr lang="en-US" sz="27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in </a:t>
            </a:r>
            <a:r>
              <a:rPr lang="en-US" sz="27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free text</a:t>
            </a:r>
            <a:r>
              <a:rPr lang="en-US" sz="27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, heterogeneous data</a:t>
            </a:r>
          </a:p>
          <a:p>
            <a:r>
              <a:rPr lang="en-US" sz="15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r>
              <a:rPr lang="en-US" sz="2700" b="1" u="sng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Drawbacks:</a:t>
            </a:r>
            <a:r>
              <a:rPr lang="en-US" sz="27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r>
              <a:rPr lang="en-US" sz="27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Contains many stop words, </a:t>
            </a:r>
            <a:r>
              <a:rPr lang="en-US" sz="27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sparse data </a:t>
            </a:r>
            <a:r>
              <a:rPr lang="en-US" sz="27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(~2 notes/patient), no predefined features</a:t>
            </a:r>
            <a:endParaRPr lang="en-US" sz="2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76522" y="24111964"/>
            <a:ext cx="10015283" cy="587204"/>
          </a:xfrm>
          <a:prstGeom prst="rect">
            <a:avLst/>
          </a:prstGeom>
          <a:solidFill>
            <a:srgbClr val="EDF5F0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76522" y="24157102"/>
            <a:ext cx="10015283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Clinical Notes</a:t>
            </a:r>
            <a:endParaRPr 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Text 100">
            <a:extLst>
              <a:ext uri="{FF2B5EF4-FFF2-40B4-BE49-F238E27FC236}">
                <a16:creationId xmlns:a16="http://schemas.microsoft.com/office/drawing/2014/main" id="{A9EC0FCE-87AD-D410-9694-3157349AF49C}"/>
              </a:ext>
            </a:extLst>
          </p:cNvPr>
          <p:cNvSpPr/>
          <p:nvPr/>
        </p:nvSpPr>
        <p:spPr>
          <a:xfrm>
            <a:off x="11421485" y="31309283"/>
            <a:ext cx="20582516" cy="116040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Figure 4: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Model ROC-AUC for classification of cancer-related suicide risk. Error bars show mean ± SD across 10 cross-validation folds. The p-value compares Combined (structured + notes) vs. Structured-only on the same folds, isolating the added contribution of note features beyond structured data alone. Both TF-IDF and LDA topics significantly improve tree-based models (RF/GB) when added to structured data (paired t-test, p&lt;0.001 for both), but not Logistic Regression.</a:t>
            </a:r>
          </a:p>
        </p:txBody>
      </p:sp>
      <p:sp>
        <p:nvSpPr>
          <p:cNvPr id="199" name="Shape 264">
            <a:extLst>
              <a:ext uri="{FF2B5EF4-FFF2-40B4-BE49-F238E27FC236}">
                <a16:creationId xmlns:a16="http://schemas.microsoft.com/office/drawing/2014/main" id="{DC3727D1-870A-FB32-0228-4840DD7421A0}"/>
              </a:ext>
            </a:extLst>
          </p:cNvPr>
          <p:cNvSpPr/>
          <p:nvPr/>
        </p:nvSpPr>
        <p:spPr>
          <a:xfrm>
            <a:off x="32814308" y="20756358"/>
            <a:ext cx="9966960" cy="1444764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alpha val="42000"/>
              </a:schemeClr>
            </a:solidFill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0" name="Shape 265">
            <a:extLst>
              <a:ext uri="{FF2B5EF4-FFF2-40B4-BE49-F238E27FC236}">
                <a16:creationId xmlns:a16="http://schemas.microsoft.com/office/drawing/2014/main" id="{63BC5ACC-A9D1-046E-01ED-19F6CA4FD9F8}"/>
              </a:ext>
            </a:extLst>
          </p:cNvPr>
          <p:cNvSpPr/>
          <p:nvPr/>
        </p:nvSpPr>
        <p:spPr>
          <a:xfrm>
            <a:off x="32905748" y="20862312"/>
            <a:ext cx="457200" cy="457200"/>
          </a:xfrm>
          <a:prstGeom prst="rect">
            <a:avLst/>
          </a:prstGeom>
          <a:solidFill>
            <a:srgbClr val="00693E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1" name="Text 266">
            <a:extLst>
              <a:ext uri="{FF2B5EF4-FFF2-40B4-BE49-F238E27FC236}">
                <a16:creationId xmlns:a16="http://schemas.microsoft.com/office/drawing/2014/main" id="{84A6548B-A1DC-DF1F-3D09-4C95D78ADBDA}"/>
              </a:ext>
            </a:extLst>
          </p:cNvPr>
          <p:cNvSpPr/>
          <p:nvPr/>
        </p:nvSpPr>
        <p:spPr>
          <a:xfrm>
            <a:off x="32905748" y="20913111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2" name="Text 267">
            <a:extLst>
              <a:ext uri="{FF2B5EF4-FFF2-40B4-BE49-F238E27FC236}">
                <a16:creationId xmlns:a16="http://schemas.microsoft.com/office/drawing/2014/main" id="{013CBB14-DFB2-6AF2-2227-B28D2CB5875B}"/>
              </a:ext>
            </a:extLst>
          </p:cNvPr>
          <p:cNvSpPr/>
          <p:nvPr/>
        </p:nvSpPr>
        <p:spPr>
          <a:xfrm>
            <a:off x="33500108" y="20861705"/>
            <a:ext cx="9189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Topics Help Tree Models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3" name="Text 268">
            <a:extLst>
              <a:ext uri="{FF2B5EF4-FFF2-40B4-BE49-F238E27FC236}">
                <a16:creationId xmlns:a16="http://schemas.microsoft.com/office/drawing/2014/main" id="{AD9B2D37-112A-B482-B550-CDFD9DF72CBA}"/>
              </a:ext>
            </a:extLst>
          </p:cNvPr>
          <p:cNvSpPr/>
          <p:nvPr/>
        </p:nvSpPr>
        <p:spPr>
          <a:xfrm>
            <a:off x="33500108" y="21292279"/>
            <a:ext cx="9189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lnSpc>
                <a:spcPct val="95000"/>
              </a:lnSpc>
              <a:buClr>
                <a:srgbClr val="1A1A2E"/>
              </a:buClr>
              <a:buSzPts val="1100"/>
            </a:pP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Combining structured data with TF-IDF or LDA topics significantly improves reproducible Random Forest and Gradient Boosting (p&lt;0.001) models, with a ROC-AUC of 0.827 and 0.798</a:t>
            </a:r>
            <a:endParaRPr lang="en-US" sz="2000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204" name="Shape 269">
            <a:extLst>
              <a:ext uri="{FF2B5EF4-FFF2-40B4-BE49-F238E27FC236}">
                <a16:creationId xmlns:a16="http://schemas.microsoft.com/office/drawing/2014/main" id="{5E941527-F2D1-577A-7AB8-CE45958F7349}"/>
              </a:ext>
            </a:extLst>
          </p:cNvPr>
          <p:cNvSpPr/>
          <p:nvPr/>
        </p:nvSpPr>
        <p:spPr>
          <a:xfrm>
            <a:off x="32826960" y="23247386"/>
            <a:ext cx="9966960" cy="1115568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alpha val="42000"/>
              </a:schemeClr>
            </a:solidFill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5" name="Shape 270">
            <a:extLst>
              <a:ext uri="{FF2B5EF4-FFF2-40B4-BE49-F238E27FC236}">
                <a16:creationId xmlns:a16="http://schemas.microsoft.com/office/drawing/2014/main" id="{4BE97CA2-E005-5CD0-8135-A637F07D0A16}"/>
              </a:ext>
            </a:extLst>
          </p:cNvPr>
          <p:cNvSpPr/>
          <p:nvPr/>
        </p:nvSpPr>
        <p:spPr>
          <a:xfrm>
            <a:off x="32918400" y="23360015"/>
            <a:ext cx="457200" cy="457200"/>
          </a:xfrm>
          <a:prstGeom prst="rect">
            <a:avLst/>
          </a:prstGeom>
          <a:solidFill>
            <a:srgbClr val="00693E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" name="Text 271">
            <a:extLst>
              <a:ext uri="{FF2B5EF4-FFF2-40B4-BE49-F238E27FC236}">
                <a16:creationId xmlns:a16="http://schemas.microsoft.com/office/drawing/2014/main" id="{FAA327F2-F377-9A2D-61EC-0253B0C4003C}"/>
              </a:ext>
            </a:extLst>
          </p:cNvPr>
          <p:cNvSpPr/>
          <p:nvPr/>
        </p:nvSpPr>
        <p:spPr>
          <a:xfrm>
            <a:off x="32918400" y="2335275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3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" name="Text 272">
            <a:extLst>
              <a:ext uri="{FF2B5EF4-FFF2-40B4-BE49-F238E27FC236}">
                <a16:creationId xmlns:a16="http://schemas.microsoft.com/office/drawing/2014/main" id="{AE649F6C-25B1-2AE3-F45B-ACABC7B5DDA9}"/>
              </a:ext>
            </a:extLst>
          </p:cNvPr>
          <p:cNvSpPr/>
          <p:nvPr/>
        </p:nvSpPr>
        <p:spPr>
          <a:xfrm>
            <a:off x="33512760" y="23341727"/>
            <a:ext cx="9189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 Longitudinal Signal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8" name="Text 273">
            <a:extLst>
              <a:ext uri="{FF2B5EF4-FFF2-40B4-BE49-F238E27FC236}">
                <a16:creationId xmlns:a16="http://schemas.microsoft.com/office/drawing/2014/main" id="{0EB7306C-45A3-5A21-1819-907ED1C8A24D}"/>
              </a:ext>
            </a:extLst>
          </p:cNvPr>
          <p:cNvSpPr/>
          <p:nvPr/>
        </p:nvSpPr>
        <p:spPr>
          <a:xfrm>
            <a:off x="33512760" y="23637884"/>
            <a:ext cx="9189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buClr>
                <a:srgbClr val="1A1A2E"/>
              </a:buClr>
              <a:buSzPts val="1100"/>
            </a:pP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Evidence in notes rises toward the event in cases, producing a significant signal (p=0.0053)</a:t>
            </a:r>
            <a:endParaRPr lang="en-US" sz="2000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22" name="Google Shape;32;p2">
            <a:extLst>
              <a:ext uri="{FF2B5EF4-FFF2-40B4-BE49-F238E27FC236}">
                <a16:creationId xmlns:a16="http://schemas.microsoft.com/office/drawing/2014/main" id="{B90CA0C7-56E2-5C45-C060-833BEBBDE79C}"/>
              </a:ext>
            </a:extLst>
          </p:cNvPr>
          <p:cNvSpPr txBox="1"/>
          <p:nvPr/>
        </p:nvSpPr>
        <p:spPr>
          <a:xfrm>
            <a:off x="777240" y="5444550"/>
            <a:ext cx="6000978" cy="449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2500" b="0" i="0" u="none" strike="noStrike" cap="none" dirty="0">
                <a:solidFill>
                  <a:srgbClr val="000000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Past suicide risk prediction pipelines:</a:t>
            </a:r>
            <a:endParaRPr sz="2500" b="0" i="0" u="none" strike="noStrike" cap="none" dirty="0">
              <a:solidFill>
                <a:srgbClr val="000000"/>
              </a:solidFill>
              <a:latin typeface="Arial" panose="020B0604020202020204" pitchFamily="34" charset="0"/>
              <a:ea typeface="Arial"/>
              <a:cs typeface="Arial" panose="020B0604020202020204" pitchFamily="34" charset="0"/>
              <a:sym typeface="Arial"/>
            </a:endParaRPr>
          </a:p>
        </p:txBody>
      </p:sp>
      <p:sp>
        <p:nvSpPr>
          <p:cNvPr id="150" name="Shape 8">
            <a:extLst>
              <a:ext uri="{FF2B5EF4-FFF2-40B4-BE49-F238E27FC236}">
                <a16:creationId xmlns:a16="http://schemas.microsoft.com/office/drawing/2014/main" id="{5EB33AAD-1E4F-D39D-43BC-324D82B55140}"/>
              </a:ext>
            </a:extLst>
          </p:cNvPr>
          <p:cNvSpPr/>
          <p:nvPr/>
        </p:nvSpPr>
        <p:spPr>
          <a:xfrm>
            <a:off x="584199" y="6166107"/>
            <a:ext cx="2880360" cy="1005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1" name="Text 9">
            <a:extLst>
              <a:ext uri="{FF2B5EF4-FFF2-40B4-BE49-F238E27FC236}">
                <a16:creationId xmlns:a16="http://schemas.microsoft.com/office/drawing/2014/main" id="{40A381CC-41D2-D391-1943-5704D6E12E59}"/>
              </a:ext>
            </a:extLst>
          </p:cNvPr>
          <p:cNvSpPr/>
          <p:nvPr/>
        </p:nvSpPr>
        <p:spPr>
          <a:xfrm>
            <a:off x="584199" y="6166107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 algn="ctr">
              <a:buClr>
                <a:srgbClr val="1A1A2E"/>
              </a:buClr>
              <a:buSzPts val="1281"/>
            </a:pPr>
            <a:r>
              <a:rPr lang="en-US" sz="2400" b="1" dirty="0">
                <a:solidFill>
                  <a:srgbClr val="1A1A2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Discharge</a:t>
            </a:r>
            <a:endParaRPr lang="en-US" sz="2400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lvl="0" algn="ctr">
              <a:buClr>
                <a:srgbClr val="1A1A2E"/>
              </a:buClr>
              <a:buSzPts val="1281"/>
            </a:pPr>
            <a:r>
              <a:rPr lang="en-US" sz="2400" b="1" dirty="0">
                <a:solidFill>
                  <a:srgbClr val="1A1A2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Notes</a:t>
            </a:r>
            <a:endParaRPr lang="en-US" sz="2400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152" name="Shape 10">
            <a:extLst>
              <a:ext uri="{FF2B5EF4-FFF2-40B4-BE49-F238E27FC236}">
                <a16:creationId xmlns:a16="http://schemas.microsoft.com/office/drawing/2014/main" id="{1435BA9F-2A39-6135-DFBA-BBFD742F3E08}"/>
              </a:ext>
            </a:extLst>
          </p:cNvPr>
          <p:cNvSpPr/>
          <p:nvPr/>
        </p:nvSpPr>
        <p:spPr>
          <a:xfrm>
            <a:off x="4150359" y="6166107"/>
            <a:ext cx="2880360" cy="1005840"/>
          </a:xfrm>
          <a:prstGeom prst="rect">
            <a:avLst/>
          </a:prstGeom>
          <a:solidFill>
            <a:srgbClr val="ECECEC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3" name="Text 11">
            <a:extLst>
              <a:ext uri="{FF2B5EF4-FFF2-40B4-BE49-F238E27FC236}">
                <a16:creationId xmlns:a16="http://schemas.microsoft.com/office/drawing/2014/main" id="{9F009DF5-DFC9-5B39-F029-CE49D900E8F3}"/>
              </a:ext>
            </a:extLst>
          </p:cNvPr>
          <p:cNvSpPr/>
          <p:nvPr/>
        </p:nvSpPr>
        <p:spPr>
          <a:xfrm>
            <a:off x="4150359" y="6166107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LLM-Based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3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Filter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4" name="Shape 12">
            <a:extLst>
              <a:ext uri="{FF2B5EF4-FFF2-40B4-BE49-F238E27FC236}">
                <a16:creationId xmlns:a16="http://schemas.microsoft.com/office/drawing/2014/main" id="{0A768656-E698-45BF-29F6-974A44B19067}"/>
              </a:ext>
            </a:extLst>
          </p:cNvPr>
          <p:cNvSpPr/>
          <p:nvPr/>
        </p:nvSpPr>
        <p:spPr>
          <a:xfrm>
            <a:off x="7716519" y="6166107"/>
            <a:ext cx="2880360" cy="100584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5" name="Text 13">
            <a:extLst>
              <a:ext uri="{FF2B5EF4-FFF2-40B4-BE49-F238E27FC236}">
                <a16:creationId xmlns:a16="http://schemas.microsoft.com/office/drawing/2014/main" id="{295110B4-551C-CF23-0863-7F3A9E26278A}"/>
              </a:ext>
            </a:extLst>
          </p:cNvPr>
          <p:cNvSpPr/>
          <p:nvPr/>
        </p:nvSpPr>
        <p:spPr>
          <a:xfrm>
            <a:off x="7716519" y="6166107"/>
            <a:ext cx="28803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Risk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sz="23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Model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6" name="Shape 14">
            <a:extLst>
              <a:ext uri="{FF2B5EF4-FFF2-40B4-BE49-F238E27FC236}">
                <a16:creationId xmlns:a16="http://schemas.microsoft.com/office/drawing/2014/main" id="{EEDF1156-879D-B218-63E2-4C0ABD4ED7EC}"/>
              </a:ext>
            </a:extLst>
          </p:cNvPr>
          <p:cNvSpPr/>
          <p:nvPr/>
        </p:nvSpPr>
        <p:spPr>
          <a:xfrm>
            <a:off x="3464559" y="6669027"/>
            <a:ext cx="685800" cy="0"/>
          </a:xfrm>
          <a:prstGeom prst="line">
            <a:avLst/>
          </a:prstGeom>
          <a:noFill/>
          <a:ln w="50800">
            <a:solidFill>
              <a:srgbClr val="1A1A2E"/>
            </a:solidFill>
            <a:prstDash val="solid"/>
            <a:tailEnd type="triangle" w="lg" len="sm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7" name="Shape 15">
            <a:extLst>
              <a:ext uri="{FF2B5EF4-FFF2-40B4-BE49-F238E27FC236}">
                <a16:creationId xmlns:a16="http://schemas.microsoft.com/office/drawing/2014/main" id="{BBCAB028-8AA8-D658-742D-56FE1B47BF54}"/>
              </a:ext>
            </a:extLst>
          </p:cNvPr>
          <p:cNvSpPr/>
          <p:nvPr/>
        </p:nvSpPr>
        <p:spPr>
          <a:xfrm>
            <a:off x="7030719" y="6669027"/>
            <a:ext cx="685800" cy="0"/>
          </a:xfrm>
          <a:prstGeom prst="line">
            <a:avLst/>
          </a:prstGeom>
          <a:noFill/>
          <a:ln w="50800">
            <a:solidFill>
              <a:srgbClr val="1A1A2E"/>
            </a:solidFill>
            <a:prstDash val="solid"/>
            <a:tailEnd type="triangle" w="lg" len="sm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8" name="Google Shape;14;p1" title="Untitled design.png">
            <a:extLst>
              <a:ext uri="{FF2B5EF4-FFF2-40B4-BE49-F238E27FC236}">
                <a16:creationId xmlns:a16="http://schemas.microsoft.com/office/drawing/2014/main" id="{E63261EB-A526-DADF-0437-7A08D645C221}"/>
              </a:ext>
            </a:extLst>
          </p:cNvPr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36999630" y="-943319"/>
            <a:ext cx="8341998" cy="4692359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350;p13" title="Untitled design (1).png">
            <a:extLst>
              <a:ext uri="{FF2B5EF4-FFF2-40B4-BE49-F238E27FC236}">
                <a16:creationId xmlns:a16="http://schemas.microsoft.com/office/drawing/2014/main" id="{1698CE6C-685E-0333-0007-73B06C51F10A}"/>
              </a:ext>
            </a:extLst>
          </p:cNvPr>
          <p:cNvPicPr preferRelativeResize="0"/>
          <p:nvPr/>
        </p:nvPicPr>
        <p:blipFill rotWithShape="1">
          <a:blip r:embed="rId17">
            <a:alphaModFix/>
          </a:blip>
          <a:srcRect/>
          <a:stretch/>
        </p:blipFill>
        <p:spPr>
          <a:xfrm>
            <a:off x="365760" y="372724"/>
            <a:ext cx="4247230" cy="2389109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4C1912A-1CDE-4DD2-7F6C-1E6AB5082643}"/>
              </a:ext>
            </a:extLst>
          </p:cNvPr>
          <p:cNvSpPr txBox="1"/>
          <p:nvPr/>
        </p:nvSpPr>
        <p:spPr>
          <a:xfrm>
            <a:off x="32578530" y="3581401"/>
            <a:ext cx="55105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a) Gradient Boosting: Topics + Structured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14BE5FE-D367-392C-4162-7092B3123E09}"/>
              </a:ext>
            </a:extLst>
          </p:cNvPr>
          <p:cNvSpPr txBox="1"/>
          <p:nvPr/>
        </p:nvSpPr>
        <p:spPr>
          <a:xfrm>
            <a:off x="37834738" y="3576340"/>
            <a:ext cx="53249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b) Gradient Boosting: TF-IDF + Structured</a:t>
            </a:r>
          </a:p>
        </p:txBody>
      </p:sp>
      <p:sp>
        <p:nvSpPr>
          <p:cNvPr id="17" name="Shape 36">
            <a:extLst>
              <a:ext uri="{FF2B5EF4-FFF2-40B4-BE49-F238E27FC236}">
                <a16:creationId xmlns:a16="http://schemas.microsoft.com/office/drawing/2014/main" id="{3C351B1B-A207-8C4F-3FBD-4D43AA2A942C}"/>
              </a:ext>
            </a:extLst>
          </p:cNvPr>
          <p:cNvSpPr/>
          <p:nvPr/>
        </p:nvSpPr>
        <p:spPr>
          <a:xfrm>
            <a:off x="32605868" y="28018743"/>
            <a:ext cx="10424160" cy="640080"/>
          </a:xfrm>
          <a:prstGeom prst="rect">
            <a:avLst/>
          </a:prstGeom>
          <a:solidFill>
            <a:srgbClr val="00693E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 37">
            <a:extLst>
              <a:ext uri="{FF2B5EF4-FFF2-40B4-BE49-F238E27FC236}">
                <a16:creationId xmlns:a16="http://schemas.microsoft.com/office/drawing/2014/main" id="{87651AF5-BEE6-1B0B-2F1D-7CC68A340216}"/>
              </a:ext>
            </a:extLst>
          </p:cNvPr>
          <p:cNvSpPr/>
          <p:nvPr/>
        </p:nvSpPr>
        <p:spPr>
          <a:xfrm>
            <a:off x="32605868" y="28018743"/>
            <a:ext cx="10424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Acknowledgments</a:t>
            </a:r>
            <a:endParaRPr lang="en-US" sz="3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Shape 38">
            <a:extLst>
              <a:ext uri="{FF2B5EF4-FFF2-40B4-BE49-F238E27FC236}">
                <a16:creationId xmlns:a16="http://schemas.microsoft.com/office/drawing/2014/main" id="{4DE77478-AE8B-740A-AF06-EA7A40F84B8F}"/>
              </a:ext>
            </a:extLst>
          </p:cNvPr>
          <p:cNvSpPr/>
          <p:nvPr/>
        </p:nvSpPr>
        <p:spPr>
          <a:xfrm>
            <a:off x="32605868" y="28658823"/>
            <a:ext cx="10424160" cy="4059554"/>
          </a:xfrm>
          <a:prstGeom prst="rect">
            <a:avLst/>
          </a:prstGeom>
          <a:solidFill>
            <a:srgbClr val="FFFFFF"/>
          </a:solidFill>
          <a:ln w="9525">
            <a:solidFill>
              <a:srgbClr val="D5DAE3"/>
            </a:solidFill>
            <a:prstDash val="solid"/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Text 39">
            <a:extLst>
              <a:ext uri="{FF2B5EF4-FFF2-40B4-BE49-F238E27FC236}">
                <a16:creationId xmlns:a16="http://schemas.microsoft.com/office/drawing/2014/main" id="{F51ABE68-BCDE-B78F-104A-53EB87956A17}"/>
              </a:ext>
            </a:extLst>
          </p:cNvPr>
          <p:cNvSpPr/>
          <p:nvPr/>
        </p:nvSpPr>
        <p:spPr>
          <a:xfrm>
            <a:off x="32877257" y="28664422"/>
            <a:ext cx="10161931" cy="425233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0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Dartmouth College / EDIT AI</a:t>
            </a:r>
            <a:r>
              <a:rPr lang="en-US" sz="2000" b="1" dirty="0">
                <a:solidFill>
                  <a:srgbClr val="00693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Joshua Levy — PI &amp; Director, EDIT AI
Louis Vaickus — Mentor, HPC &amp; Data Infrastructure
Alos Diallo — Mentor
Benjamin Mattern, Matthew Hayden — EDIT AI Program
</a:t>
            </a:r>
            <a:r>
              <a:rPr lang="en-US" sz="20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VA Collaborators</a:t>
            </a:r>
            <a:r>
              <a:rPr lang="en-US" sz="2000" b="1" dirty="0">
                <a:solidFill>
                  <a:srgbClr val="00693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
</a:t>
            </a: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Monica Dimambro — Mentor
Maxwell Levis — Mentor
</a:t>
            </a:r>
            <a:r>
              <a:rPr lang="en-US" sz="20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Data: </a:t>
            </a: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MIMIC-IV &amp; MIMIC-IV-Note (PhysioNet, restricted access).
</a:t>
            </a:r>
            <a:r>
              <a:rPr lang="en-US" sz="2000" b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Prior work: </a:t>
            </a:r>
            <a:r>
              <a:rPr lang="en-US" sz="2000" i="1" dirty="0">
                <a:solidFill>
                  <a:srgbClr val="1A1A2E"/>
                </a:solidFill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Levis, Levy, Dimambro, Diallo, Gui, et al. LLM-based extraction of psychosocial risk factors for suicide-risk prediction in veterans. medRxiv, 2026 (preprint).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Shape 32">
            <a:extLst>
              <a:ext uri="{FF2B5EF4-FFF2-40B4-BE49-F238E27FC236}">
                <a16:creationId xmlns:a16="http://schemas.microsoft.com/office/drawing/2014/main" id="{BBF9E882-E9C7-CA3B-2EE7-621BDDE732A8}"/>
              </a:ext>
            </a:extLst>
          </p:cNvPr>
          <p:cNvSpPr/>
          <p:nvPr/>
        </p:nvSpPr>
        <p:spPr>
          <a:xfrm>
            <a:off x="372872" y="8184569"/>
            <a:ext cx="10424160" cy="640080"/>
          </a:xfrm>
          <a:prstGeom prst="rect">
            <a:avLst/>
          </a:prstGeom>
          <a:solidFill>
            <a:srgbClr val="00693E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9266F7B-D8CE-CA9B-AD75-7D80BB0D6C8A}"/>
              </a:ext>
            </a:extLst>
          </p:cNvPr>
          <p:cNvGrpSpPr/>
          <p:nvPr/>
        </p:nvGrpSpPr>
        <p:grpSpPr>
          <a:xfrm>
            <a:off x="372872" y="8184569"/>
            <a:ext cx="10424160" cy="4754880"/>
            <a:chOff x="365760" y="20711160"/>
            <a:chExt cx="10424160" cy="4754880"/>
          </a:xfrm>
        </p:grpSpPr>
        <p:sp>
          <p:nvSpPr>
            <p:cNvPr id="15" name="Text 33">
              <a:extLst>
                <a:ext uri="{FF2B5EF4-FFF2-40B4-BE49-F238E27FC236}">
                  <a16:creationId xmlns:a16="http://schemas.microsoft.com/office/drawing/2014/main" id="{87AD9BA1-BFD0-B3C5-6EED-3B91FB688128}"/>
                </a:ext>
              </a:extLst>
            </p:cNvPr>
            <p:cNvSpPr/>
            <p:nvPr/>
          </p:nvSpPr>
          <p:spPr>
            <a:xfrm>
              <a:off x="365760" y="20711160"/>
              <a:ext cx="1042416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3000" b="1" dirty="0">
                  <a:solidFill>
                    <a:srgbClr val="FFFFFF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Research Question &amp; Hypothesis</a:t>
              </a:r>
              <a:endParaRPr lang="en-US" sz="30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16" name="Shape 34">
              <a:extLst>
                <a:ext uri="{FF2B5EF4-FFF2-40B4-BE49-F238E27FC236}">
                  <a16:creationId xmlns:a16="http://schemas.microsoft.com/office/drawing/2014/main" id="{6808F6FA-1C25-8C61-2D17-63EFE067F005}"/>
                </a:ext>
              </a:extLst>
            </p:cNvPr>
            <p:cNvSpPr/>
            <p:nvPr/>
          </p:nvSpPr>
          <p:spPr>
            <a:xfrm>
              <a:off x="365760" y="21351240"/>
              <a:ext cx="10424160" cy="411480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D5DAE3"/>
              </a:solidFill>
              <a:prstDash val="solid"/>
            </a:ln>
          </p:spPr>
          <p:txBody>
            <a:bodyPr/>
            <a:lstStyle/>
            <a:p>
              <a:endParaRPr 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Text 35">
              <a:extLst>
                <a:ext uri="{FF2B5EF4-FFF2-40B4-BE49-F238E27FC236}">
                  <a16:creationId xmlns:a16="http://schemas.microsoft.com/office/drawing/2014/main" id="{2D6ACADF-CBAF-97F5-C0B1-6D662EBBF24D}"/>
                </a:ext>
              </a:extLst>
            </p:cNvPr>
            <p:cNvSpPr/>
            <p:nvPr/>
          </p:nvSpPr>
          <p:spPr>
            <a:xfrm>
              <a:off x="685800" y="21534120"/>
              <a:ext cx="9784080" cy="3749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r>
                <a:rPr lang="en-US" sz="2500" b="1" dirty="0">
                  <a:solidFill>
                    <a:srgbClr val="1A1A2E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Can structured EHR data and clinical notes (individually and combined) identify patterns associated with documented suicide-related events among cancer patients?
</a:t>
              </a:r>
              <a:r>
                <a:rPr lang="en-US" sz="2500" b="1" dirty="0"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Hypothesis: </a:t>
              </a:r>
              <a:r>
                <a:rPr lang="en-US" sz="2500" dirty="0">
                  <a:solidFill>
                    <a:srgbClr val="1A1A2E"/>
                  </a:solidFill>
                  <a:latin typeface="Arial" panose="020B0604020202020204" pitchFamily="34" charset="0"/>
                  <a:ea typeface="Arial" pitchFamily="34" charset="-122"/>
                  <a:cs typeface="Arial" panose="020B0604020202020204" pitchFamily="34" charset="0"/>
                </a:rPr>
                <a:t>Clinical notes can identify suicide-related events and provide significance in both note-only and combined machine learning models.</a:t>
              </a:r>
              <a:br>
                <a:rPr lang="en-US" sz="2800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endParaRPr lang="en-US" sz="25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75045A4E-FDDA-5162-C150-D3870676E231}"/>
              </a:ext>
            </a:extLst>
          </p:cNvPr>
          <p:cNvSpPr txBox="1"/>
          <p:nvPr/>
        </p:nvSpPr>
        <p:spPr>
          <a:xfrm rot="16200000">
            <a:off x="21194943" y="8378789"/>
            <a:ext cx="2190307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700" dirty="0">
                <a:latin typeface="Arial" panose="020B0604020202020204" pitchFamily="34" charset="0"/>
                <a:cs typeface="Arial" panose="020B0604020202020204" pitchFamily="34" charset="0"/>
              </a:rPr>
              <a:t>Coherence Score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D943C8-C16D-1E39-1E96-B035DFC63B4C}"/>
              </a:ext>
            </a:extLst>
          </p:cNvPr>
          <p:cNvSpPr txBox="1"/>
          <p:nvPr/>
        </p:nvSpPr>
        <p:spPr>
          <a:xfrm>
            <a:off x="11521441" y="21666887"/>
            <a:ext cx="20208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Figure 3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: LDA six topics with the top five weighted words from each. The percentages show how often that topic was the main theme in a note. </a:t>
            </a:r>
          </a:p>
        </p:txBody>
      </p:sp>
      <p:sp>
        <p:nvSpPr>
          <p:cNvPr id="35" name="Text 56">
            <a:extLst>
              <a:ext uri="{FF2B5EF4-FFF2-40B4-BE49-F238E27FC236}">
                <a16:creationId xmlns:a16="http://schemas.microsoft.com/office/drawing/2014/main" id="{7BA8AE21-706F-D14A-F608-DC5CC756D879}"/>
              </a:ext>
            </a:extLst>
          </p:cNvPr>
          <p:cNvSpPr/>
          <p:nvPr/>
        </p:nvSpPr>
        <p:spPr>
          <a:xfrm>
            <a:off x="11400790" y="6822910"/>
            <a:ext cx="9784080" cy="11697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4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Figure 1: </a:t>
            </a:r>
            <a:r>
              <a:rPr lang="en-US" sz="2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3-stage LLM filtering pipeline overview. Extracts notes based on stage criteria (e.g., negative psychosocial factors, reactions to cancer diagnosis).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4" name="Picture 123">
            <a:extLst>
              <a:ext uri="{FF2B5EF4-FFF2-40B4-BE49-F238E27FC236}">
                <a16:creationId xmlns:a16="http://schemas.microsoft.com/office/drawing/2014/main" id="{362E2419-47DA-E825-B67C-DCBE6D401F7B}"/>
              </a:ext>
            </a:extLst>
          </p:cNvPr>
          <p:cNvPicPr>
            <a:picLocks noChangeAspect="1"/>
          </p:cNvPicPr>
          <p:nvPr/>
        </p:nvPicPr>
        <p:blipFill>
          <a:blip r:embed="rId18"/>
          <a:srcRect l="13110" b="17747"/>
          <a:stretch>
            <a:fillRect/>
          </a:stretch>
        </p:blipFill>
        <p:spPr>
          <a:xfrm>
            <a:off x="32818851" y="10018923"/>
            <a:ext cx="9983178" cy="2707767"/>
          </a:xfrm>
          <a:prstGeom prst="rect">
            <a:avLst/>
          </a:prstGeom>
        </p:spPr>
      </p:pic>
      <p:sp>
        <p:nvSpPr>
          <p:cNvPr id="39" name="Text 129">
            <a:extLst>
              <a:ext uri="{FF2B5EF4-FFF2-40B4-BE49-F238E27FC236}">
                <a16:creationId xmlns:a16="http://schemas.microsoft.com/office/drawing/2014/main" id="{09395E90-C3A5-9FD9-F07D-8EE8ECCEDEDC}"/>
              </a:ext>
            </a:extLst>
          </p:cNvPr>
          <p:cNvSpPr/>
          <p:nvPr/>
        </p:nvSpPr>
        <p:spPr>
          <a:xfrm>
            <a:off x="32813460" y="12462135"/>
            <a:ext cx="10191430" cy="13650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Figure 5: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(a-b) ROC-AUC curves and (c-d) Gini importance graphs for classification of cancer-related suicide risk and top feature contributions for the combined Gradient Boosting models. Structured features lead both models, with note-derived features contributing psychological significance.</a:t>
            </a:r>
            <a:r>
              <a:rPr lang="en-US" sz="2400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 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21" name="Picture 120">
            <a:extLst>
              <a:ext uri="{FF2B5EF4-FFF2-40B4-BE49-F238E27FC236}">
                <a16:creationId xmlns:a16="http://schemas.microsoft.com/office/drawing/2014/main" id="{88AA75A6-2C50-4C3F-A048-0500941CD7F6}"/>
              </a:ext>
            </a:extLst>
          </p:cNvPr>
          <p:cNvPicPr>
            <a:picLocks noChangeAspect="1"/>
          </p:cNvPicPr>
          <p:nvPr/>
        </p:nvPicPr>
        <p:blipFill>
          <a:blip r:embed="rId19"/>
          <a:srcRect l="14183" b="8875"/>
          <a:stretch>
            <a:fillRect/>
          </a:stretch>
        </p:blipFill>
        <p:spPr>
          <a:xfrm>
            <a:off x="32735517" y="7182415"/>
            <a:ext cx="9928043" cy="3020593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5C4E3B29-AC97-95FD-6BC0-32BAD15265C2}"/>
              </a:ext>
            </a:extLst>
          </p:cNvPr>
          <p:cNvSpPr txBox="1"/>
          <p:nvPr/>
        </p:nvSpPr>
        <p:spPr>
          <a:xfrm>
            <a:off x="34615779" y="10188558"/>
            <a:ext cx="641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d)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1BEEC81-8042-B716-8341-D589B9ED2D4C}"/>
              </a:ext>
            </a:extLst>
          </p:cNvPr>
          <p:cNvSpPr txBox="1"/>
          <p:nvPr/>
        </p:nvSpPr>
        <p:spPr>
          <a:xfrm>
            <a:off x="34624370" y="7336653"/>
            <a:ext cx="641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c)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82A26D9D-9B7F-5493-40A4-8CB02C588B3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32746630" y="3911538"/>
            <a:ext cx="4617720" cy="3449570"/>
          </a:xfrm>
          <a:prstGeom prst="rect">
            <a:avLst/>
          </a:prstGeom>
        </p:spPr>
      </p:pic>
      <p:pic>
        <p:nvPicPr>
          <p:cNvPr id="68" name="Picture 67">
            <a:extLst>
              <a:ext uri="{FF2B5EF4-FFF2-40B4-BE49-F238E27FC236}">
                <a16:creationId xmlns:a16="http://schemas.microsoft.com/office/drawing/2014/main" id="{848AAE2A-42B9-1AF4-1041-8C347729A6A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37856599" y="3911538"/>
            <a:ext cx="4732993" cy="3535683"/>
          </a:xfrm>
          <a:prstGeom prst="rect">
            <a:avLst/>
          </a:prstGeom>
        </p:spPr>
      </p:pic>
      <p:sp>
        <p:nvSpPr>
          <p:cNvPr id="130" name="Shape 259">
            <a:extLst>
              <a:ext uri="{FF2B5EF4-FFF2-40B4-BE49-F238E27FC236}">
                <a16:creationId xmlns:a16="http://schemas.microsoft.com/office/drawing/2014/main" id="{0E909D09-D325-A466-2C90-5CE2C2345B85}"/>
              </a:ext>
            </a:extLst>
          </p:cNvPr>
          <p:cNvSpPr/>
          <p:nvPr/>
        </p:nvSpPr>
        <p:spPr>
          <a:xfrm>
            <a:off x="32819376" y="22315713"/>
            <a:ext cx="9966960" cy="808053"/>
          </a:xfrm>
          <a:prstGeom prst="rect">
            <a:avLst/>
          </a:prstGeom>
          <a:solidFill>
            <a:schemeClr val="bg1"/>
          </a:solidFill>
          <a:ln>
            <a:solidFill>
              <a:schemeClr val="tx1">
                <a:alpha val="42000"/>
              </a:schemeClr>
            </a:solidFill>
          </a:ln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1" name="Shape 260">
            <a:extLst>
              <a:ext uri="{FF2B5EF4-FFF2-40B4-BE49-F238E27FC236}">
                <a16:creationId xmlns:a16="http://schemas.microsoft.com/office/drawing/2014/main" id="{8BF55125-49A5-FD41-F19B-89A7C1366DCF}"/>
              </a:ext>
            </a:extLst>
          </p:cNvPr>
          <p:cNvSpPr/>
          <p:nvPr/>
        </p:nvSpPr>
        <p:spPr>
          <a:xfrm>
            <a:off x="32910816" y="22425633"/>
            <a:ext cx="457200" cy="457200"/>
          </a:xfrm>
          <a:prstGeom prst="rect">
            <a:avLst/>
          </a:prstGeom>
          <a:solidFill>
            <a:srgbClr val="00693E"/>
          </a:solidFill>
          <a:ln/>
        </p:spPr>
        <p:txBody>
          <a:bodyPr/>
          <a:lstStyle/>
          <a:p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2" name="Text 261">
            <a:extLst>
              <a:ext uri="{FF2B5EF4-FFF2-40B4-BE49-F238E27FC236}">
                <a16:creationId xmlns:a16="http://schemas.microsoft.com/office/drawing/2014/main" id="{9498B372-6BFC-3BF3-D9E8-BAEF3CA58345}"/>
              </a:ext>
            </a:extLst>
          </p:cNvPr>
          <p:cNvSpPr/>
          <p:nvPr/>
        </p:nvSpPr>
        <p:spPr>
          <a:xfrm>
            <a:off x="32910816" y="2242563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lang="en-US" sz="17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3" name="Text 262">
            <a:extLst>
              <a:ext uri="{FF2B5EF4-FFF2-40B4-BE49-F238E27FC236}">
                <a16:creationId xmlns:a16="http://schemas.microsoft.com/office/drawing/2014/main" id="{519AAFD2-7EB5-22C3-F022-93EF293A4EC6}"/>
              </a:ext>
            </a:extLst>
          </p:cNvPr>
          <p:cNvSpPr/>
          <p:nvPr/>
        </p:nvSpPr>
        <p:spPr>
          <a:xfrm>
            <a:off x="33505176" y="22407345"/>
            <a:ext cx="9189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latin typeface="Arial" panose="020B0604020202020204" pitchFamily="34" charset="0"/>
                <a:ea typeface="Arial" pitchFamily="34" charset="-122"/>
                <a:cs typeface="Arial" panose="020B0604020202020204" pitchFamily="34" charset="0"/>
              </a:rPr>
              <a:t>Structured Signal</a:t>
            </a:r>
            <a:endParaRPr lang="en-US" sz="23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4" name="Text 263">
            <a:extLst>
              <a:ext uri="{FF2B5EF4-FFF2-40B4-BE49-F238E27FC236}">
                <a16:creationId xmlns:a16="http://schemas.microsoft.com/office/drawing/2014/main" id="{AA84DB8D-0A61-D9EC-AE76-F662B7873AD8}"/>
              </a:ext>
            </a:extLst>
          </p:cNvPr>
          <p:cNvSpPr/>
          <p:nvPr/>
        </p:nvSpPr>
        <p:spPr>
          <a:xfrm>
            <a:off x="33505176" y="22527958"/>
            <a:ext cx="9189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lvl="0">
              <a:buClr>
                <a:srgbClr val="1A1A2E"/>
              </a:buClr>
              <a:buSzPts val="1100"/>
            </a:pPr>
            <a:r>
              <a:rPr lang="en-US" sz="2000" dirty="0">
                <a:solidFill>
                  <a:srgbClr val="1A1A2E"/>
                </a:solidFill>
                <a:latin typeface="Arial" panose="020B0604020202020204" pitchFamily="34" charset="0"/>
                <a:ea typeface="Arial"/>
                <a:cs typeface="Arial" panose="020B0604020202020204" pitchFamily="34" charset="0"/>
                <a:sym typeface="Arial"/>
              </a:rPr>
              <a:t>AUC 0.792 structured-only, near state-of-the-art leakage-safe accuracy metrics</a:t>
            </a:r>
          </a:p>
        </p:txBody>
      </p:sp>
      <p:sp>
        <p:nvSpPr>
          <p:cNvPr id="112" name="TextBox 111">
            <a:extLst>
              <a:ext uri="{FF2B5EF4-FFF2-40B4-BE49-F238E27FC236}">
                <a16:creationId xmlns:a16="http://schemas.microsoft.com/office/drawing/2014/main" id="{3C6720DC-B47C-9AEA-B470-217C767665DF}"/>
              </a:ext>
            </a:extLst>
          </p:cNvPr>
          <p:cNvSpPr txBox="1"/>
          <p:nvPr/>
        </p:nvSpPr>
        <p:spPr>
          <a:xfrm>
            <a:off x="23936325" y="5516880"/>
            <a:ext cx="1359346" cy="276999"/>
          </a:xfrm>
          <a:prstGeom prst="rect">
            <a:avLst/>
          </a:prstGeom>
          <a:solidFill>
            <a:schemeClr val="bg1"/>
          </a:solidFill>
        </p:spPr>
        <p:txBody>
          <a:bodyPr wrap="none" lIns="0" tIns="0" rIns="0" bIns="0" rtlCol="0">
            <a:spAutoFit/>
          </a:bodyPr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SELECTED </a:t>
            </a:r>
          </a:p>
        </p:txBody>
      </p:sp>
      <p:pic>
        <p:nvPicPr>
          <p:cNvPr id="113" name="Image 0" descr="/home/claude/poster_work/dot_whisker_full_comparison.png">
            <a:extLst>
              <a:ext uri="{FF2B5EF4-FFF2-40B4-BE49-F238E27FC236}">
                <a16:creationId xmlns:a16="http://schemas.microsoft.com/office/drawing/2014/main" id="{0621D3B0-44D7-591B-9C0E-4054140AD79C}"/>
              </a:ext>
            </a:extLst>
          </p:cNvPr>
          <p:cNvPicPr>
            <a:picLocks noChangeAspect="1"/>
          </p:cNvPicPr>
          <p:nvPr/>
        </p:nvPicPr>
        <p:blipFill>
          <a:blip r:embed="rId15"/>
          <a:srcRect b="94175"/>
          <a:stretch>
            <a:fillRect/>
          </a:stretch>
        </p:blipFill>
        <p:spPr>
          <a:xfrm>
            <a:off x="12190344" y="23309944"/>
            <a:ext cx="19312387" cy="480537"/>
          </a:xfrm>
          <a:prstGeom prst="rect">
            <a:avLst/>
          </a:prstGeom>
        </p:spPr>
      </p:pic>
    </p:spTree>
  </p:cSld>
  <p:clrMapOvr>
    <a:masterClrMapping/>
  </p:clrMapOvr>
  <p:extLst>
    <p:ext uri="{6950BFC3-D8DA-4A85-94F7-54DA5524770B}">
      <p188:commentRel xmlns:p188="http://schemas.microsoft.com/office/powerpoint/2018/8/main" r:id="rId4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Office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2036</TotalTime>
  <Words>1131</Words>
  <Application>Microsoft Office PowerPoint</Application>
  <PresentationFormat>Custom</PresentationFormat>
  <Paragraphs>126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Courier New</vt:lpstr>
      <vt:lpstr>Office Theme</vt:lpstr>
      <vt:lpstr>think-cell Slide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Wakefield, Mark</cp:lastModifiedBy>
  <cp:revision>22</cp:revision>
  <dcterms:created xsi:type="dcterms:W3CDTF">2026-08-19T23:41:10Z</dcterms:created>
  <dcterms:modified xsi:type="dcterms:W3CDTF">2026-08-24T01:26:29Z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7d721ce-65e0-4caf-a503-75114c3e06ab_Enabled">
    <vt:lpwstr>true</vt:lpwstr>
  </property>
  <property fmtid="{D5CDD505-2E9C-101B-9397-08002B2CF9AE}" pid="3" name="MSIP_Label_07d721ce-65e0-4caf-a503-75114c3e06ab_SetDate">
    <vt:lpwstr>2026-08-24T01:26:28Z</vt:lpwstr>
  </property>
  <property fmtid="{D5CDD505-2E9C-101B-9397-08002B2CF9AE}" pid="4" name="MSIP_Label_07d721ce-65e0-4caf-a503-75114c3e06ab_Method">
    <vt:lpwstr>Standard</vt:lpwstr>
  </property>
  <property fmtid="{D5CDD505-2E9C-101B-9397-08002B2CF9AE}" pid="5" name="MSIP_Label_07d721ce-65e0-4caf-a503-75114c3e06ab_Name">
    <vt:lpwstr>Client Data_0</vt:lpwstr>
  </property>
  <property fmtid="{D5CDD505-2E9C-101B-9397-08002B2CF9AE}" pid="6" name="MSIP_Label_07d721ce-65e0-4caf-a503-75114c3e06ab_SiteId">
    <vt:lpwstr>cf55ce10-837b-42cd-8154-e9a4dbd18039</vt:lpwstr>
  </property>
  <property fmtid="{D5CDD505-2E9C-101B-9397-08002B2CF9AE}" pid="7" name="MSIP_Label_07d721ce-65e0-4caf-a503-75114c3e06ab_ActionId">
    <vt:lpwstr>ef918596-07c6-41f8-97c4-19d047bba5a6</vt:lpwstr>
  </property>
  <property fmtid="{D5CDD505-2E9C-101B-9397-08002B2CF9AE}" pid="8" name="MSIP_Label_07d721ce-65e0-4caf-a503-75114c3e06ab_ContentBits">
    <vt:lpwstr>0</vt:lpwstr>
  </property>
  <property fmtid="{D5CDD505-2E9C-101B-9397-08002B2CF9AE}" pid="9" name="MSIP_Label_07d721ce-65e0-4caf-a503-75114c3e06ab_Tag">
    <vt:lpwstr>10, 3, 0, 1</vt:lpwstr>
  </property>
</Properties>
</file>